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260" r:id="rId4"/>
    <p:sldId id="261" r:id="rId5"/>
    <p:sldId id="263" r:id="rId6"/>
    <p:sldId id="262"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59" r:id="rId21"/>
  </p:sldIdLst>
  <p:sldSz cx="12192000" cy="6858000"/>
  <p:notesSz cx="6858000" cy="9144000"/>
  <p:embeddedFontLst>
    <p:embeddedFont>
      <p:font typeface="Aptos Narrow" panose="020B0004020202020204" pitchFamily="34" charset="0"/>
      <p:regular r:id="rId23"/>
      <p:bold r:id="rId24"/>
      <p:italic r:id="rId25"/>
      <p:boldItalic r:id="rId26"/>
    </p:embeddedFont>
    <p:embeddedFont>
      <p:font typeface="Candara" panose="020E0502030303020204" pitchFamily="34" charset="0"/>
      <p:regular r:id="rId27"/>
      <p:bold r:id="rId28"/>
      <p:italic r:id="rId29"/>
      <p:boldItalic r:id="rId30"/>
    </p:embeddedFont>
    <p:embeddedFont>
      <p:font typeface="Lato Black" panose="020F0502020204030203" pitchFamily="34" charset="0"/>
      <p:bold r:id="rId31"/>
      <p:boldItalic r:id="rId32"/>
    </p:embeddedFont>
    <p:embeddedFont>
      <p:font typeface="Libre Baskerville" panose="02000000000000000000" pitchFamily="2" charset="0"/>
      <p:regular r:id="rId33"/>
      <p:bold r:id="rId34"/>
      <p: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8" roundtripDataSignature="AMtx7mhnFQsu0qTBRZ+C47HNp0tuHCNk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6" d="100"/>
          <a:sy n="76" d="100"/>
        </p:scale>
        <p:origin x="27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12.fntdata"/><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A1153648-E63A-FCDB-A56C-21F57591EAA9}"/>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0D136D58-D26C-FA56-DB27-B405143E8D8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0D651DDC-3EDB-07B2-82E6-D424292FB6F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3047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8DD599CA-28C6-9981-9CA0-8CC6C457511F}"/>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DC42C8E3-3596-5915-5067-D677A29FC61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97D2F0E0-116B-B469-61AF-7E61170DCA5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9240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094AEBDA-EFF8-D3AA-F064-CEBA4BF4AEF6}"/>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4783B7D1-A200-7101-4D1E-275F19206BA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E2849158-3577-5302-22C5-B4C7E67B495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244175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89AA63A0-4634-B793-2511-A50B14CD0FA0}"/>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17F65FF-C4EA-C459-68AE-2A628D3FBA0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692FECB9-3318-F617-0D7A-249D80BA8FF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860608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BD2588C2-42CB-2A23-5267-0DD8408E51C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C3AF8428-0DD1-5075-7882-7F5B7ABA20E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3529D3AB-A465-F268-EB7A-3B0021DF0B8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25122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B4E211A6-C6D0-6660-0836-3A44C23AD100}"/>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04C4F94-1621-DB37-05CD-C1BF14B0BEE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8DD79BA8-5321-7730-3CB5-DD7B1F1DA73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995086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7E70CFAA-5F91-003C-2E32-9A54402BC55F}"/>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65427F3D-BEDC-4AE3-744F-01E02F42339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606B6AC1-A5F7-58CD-EB9E-E4BC600B634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67855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F27862C3-CA45-0F50-10B5-AD0127B52EC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052B4681-A179-EE74-C32F-90E050ABF21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A89ACA4-48E7-4D5C-14D6-0CE969EA2A4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86167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A7186098-8BA5-F866-267C-1AC2F3BE9132}"/>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67A2F18E-5CDE-4A79-D676-6F5342A20CE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8264BEC7-119E-F02E-A8C7-3A5586FCC64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273749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76419E59-EFED-6971-9FFE-8CAAE5DD01F8}"/>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044A94A5-6EC9-8148-6797-35EBB37A46E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39CFDC2D-ADEB-FB87-4A96-4370EC005A5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450349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068559DE-5088-0A6A-ED8C-DEF168343C80}"/>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830EC15F-D698-F49E-D365-20933FEC31E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032053B4-BC8F-E0F4-1BFA-2CA5EC46964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757863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92FC9484-3865-525F-A31C-2945F62B2541}"/>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26FC0A58-6B91-00EE-1794-65FB39FE953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8BD91D92-0BEA-D53F-55F3-0177FC89098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53931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B57CBBC2-399E-E3E5-49A7-CAE4F903876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C4D0F52E-1070-7607-F5E7-0E55AC70411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B486408A-ECE3-16F4-E26D-A1286050774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108910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5D6619C4-CD00-22DE-C0FA-CD56765F37F5}"/>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F61131E-115F-7767-C5B7-FF6C75AF469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7DBA926D-DF51-7056-3C8D-5C57EB95AA7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4392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CEDB5595-3EB4-B00A-F8F3-9F35633A4219}"/>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575D4AF0-818F-703B-73B0-BE6C0F679AC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083F3DED-32C0-4A0F-4DCF-5D4B892D6C7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739402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0E950468-4803-1C6F-5F4F-C0306CC7ABA5}"/>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CF4DB419-34A4-CB10-0B9C-D858D537743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FCE0EB64-8C93-5CD4-8897-BE53EF28388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369510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8C05D513-04AA-61CC-A95D-26371A508469}"/>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003251CD-238A-C82D-2244-C2A35CC9A23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6690FD95-3111-4FA0-1D7A-B9C2FBD3C20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117145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7" name="Google Shape;27;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b="58717"/>
          <a:stretch/>
        </p:blipFill>
        <p:spPr>
          <a:xfrm>
            <a:off x="0" y="-314960"/>
            <a:ext cx="12190815" cy="2763520"/>
          </a:xfrm>
          <a:prstGeom prst="rect">
            <a:avLst/>
          </a:prstGeom>
          <a:noFill/>
          <a:ln>
            <a:noFill/>
          </a:ln>
        </p:spPr>
      </p:pic>
      <p:sp>
        <p:nvSpPr>
          <p:cNvPr id="99" name="Google Shape;99;p1"/>
          <p:cNvSpPr txBox="1"/>
          <p:nvPr/>
        </p:nvSpPr>
        <p:spPr>
          <a:xfrm>
            <a:off x="2472312" y="1914260"/>
            <a:ext cx="7246189" cy="2246729"/>
          </a:xfrm>
          <a:prstGeom prst="rect">
            <a:avLst/>
          </a:prstGeom>
          <a:noFill/>
          <a:ln>
            <a:noFill/>
          </a:ln>
        </p:spPr>
        <p:txBody>
          <a:bodyPr spcFirstLastPara="1" wrap="square" lIns="91425" tIns="45700" rIns="91425" bIns="45700" anchor="t" anchorCtr="0">
            <a:spAutoFit/>
          </a:bodyPr>
          <a:lstStyle/>
          <a:p>
            <a:pPr lvl="0" algn="ctr"/>
            <a:br>
              <a:rPr lang="en-IN" sz="2800" b="0" i="0" u="none" strike="noStrike" cap="none" dirty="0">
                <a:solidFill>
                  <a:schemeClr val="dk1"/>
                </a:solidFill>
                <a:latin typeface="Calibri"/>
                <a:ea typeface="Calibri"/>
                <a:cs typeface="Calibri"/>
                <a:sym typeface="Calibri"/>
              </a:rPr>
            </a:br>
            <a:r>
              <a:rPr lang="en-US" sz="2800" b="1" dirty="0">
                <a:solidFill>
                  <a:schemeClr val="dk1"/>
                </a:solidFill>
                <a:latin typeface="Calibri"/>
                <a:ea typeface="Calibri"/>
                <a:cs typeface="Calibri"/>
                <a:sym typeface="Calibri"/>
              </a:rPr>
              <a:t>Used cars analysis on Area wise and all over India </a:t>
            </a:r>
          </a:p>
          <a:p>
            <a:pPr lvl="0" algn="ctr"/>
            <a:r>
              <a:rPr lang="en-US" sz="2800" b="1" dirty="0">
                <a:solidFill>
                  <a:schemeClr val="dk1"/>
                </a:solidFill>
                <a:latin typeface="Calibri"/>
                <a:ea typeface="Calibri"/>
                <a:cs typeface="Calibri"/>
                <a:sym typeface="Calibri"/>
              </a:rPr>
              <a:t>ON</a:t>
            </a:r>
          </a:p>
          <a:p>
            <a:pPr lvl="0" algn="ctr"/>
            <a:r>
              <a:rPr lang="en-US" sz="2800" b="1" dirty="0">
                <a:solidFill>
                  <a:schemeClr val="dk1"/>
                </a:solidFill>
                <a:latin typeface="Calibri"/>
                <a:ea typeface="Calibri"/>
                <a:cs typeface="Calibri"/>
                <a:sym typeface="Calibri"/>
              </a:rPr>
              <a:t>Cars24</a:t>
            </a:r>
            <a:endParaRPr sz="2800" b="1" dirty="0"/>
          </a:p>
        </p:txBody>
      </p:sp>
      <p:sp>
        <p:nvSpPr>
          <p:cNvPr id="2" name="TextBox 1">
            <a:extLst>
              <a:ext uri="{FF2B5EF4-FFF2-40B4-BE49-F238E27FC236}">
                <a16:creationId xmlns:a16="http://schemas.microsoft.com/office/drawing/2014/main" id="{29DA5829-5DCC-4AD3-7DD3-A6624E2C61D6}"/>
              </a:ext>
            </a:extLst>
          </p:cNvPr>
          <p:cNvSpPr txBox="1"/>
          <p:nvPr/>
        </p:nvSpPr>
        <p:spPr>
          <a:xfrm>
            <a:off x="184558" y="5312991"/>
            <a:ext cx="2476960" cy="1077218"/>
          </a:xfrm>
          <a:prstGeom prst="rect">
            <a:avLst/>
          </a:prstGeom>
          <a:noFill/>
        </p:spPr>
        <p:txBody>
          <a:bodyPr wrap="none" rtlCol="0">
            <a:spAutoFit/>
          </a:bodyPr>
          <a:lstStyle/>
          <a:p>
            <a:r>
              <a:rPr lang="en-IN" sz="1600" dirty="0">
                <a:latin typeface="Aptos Narrow" panose="020B0004020202020204" pitchFamily="34" charset="0"/>
              </a:rPr>
              <a:t>Presented By:</a:t>
            </a:r>
          </a:p>
          <a:p>
            <a:r>
              <a:rPr lang="en-IN" sz="1600" dirty="0" err="1">
                <a:latin typeface="Aptos Narrow" panose="020B0004020202020204" pitchFamily="34" charset="0"/>
              </a:rPr>
              <a:t>Sainandu</a:t>
            </a:r>
            <a:r>
              <a:rPr lang="en-IN" sz="1600" dirty="0">
                <a:latin typeface="Aptos Narrow" panose="020B0004020202020204" pitchFamily="34" charset="0"/>
              </a:rPr>
              <a:t> Samudrala</a:t>
            </a:r>
          </a:p>
          <a:p>
            <a:r>
              <a:rPr lang="en-IN" sz="1600" dirty="0">
                <a:latin typeface="Aptos Narrow" panose="020B0004020202020204" pitchFamily="34" charset="0"/>
              </a:rPr>
              <a:t>Ajay Patel</a:t>
            </a:r>
          </a:p>
          <a:p>
            <a:r>
              <a:rPr lang="en-IN" sz="1600" dirty="0">
                <a:latin typeface="Aptos Narrow" panose="020B0004020202020204" pitchFamily="34" charset="0"/>
              </a:rPr>
              <a:t>Bhargav Praveen Chintapalli</a:t>
            </a:r>
          </a:p>
        </p:txBody>
      </p:sp>
      <p:pic>
        <p:nvPicPr>
          <p:cNvPr id="1026" name="Picture 2" descr="Career Pathways for Former BluSmart Drivers">
            <a:extLst>
              <a:ext uri="{FF2B5EF4-FFF2-40B4-BE49-F238E27FC236}">
                <a16:creationId xmlns:a16="http://schemas.microsoft.com/office/drawing/2014/main" id="{79EB84C0-D56C-C9E6-2827-E1C2941861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83060" y="4119552"/>
            <a:ext cx="2379372" cy="11934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293615" y="1086174"/>
            <a:ext cx="11450972" cy="5355272"/>
          </a:xfrm>
          <a:prstGeom prst="rect">
            <a:avLst/>
          </a:prstGeom>
          <a:noFill/>
          <a:ln>
            <a:noFill/>
          </a:ln>
        </p:spPr>
        <p:txBody>
          <a:bodyPr spcFirstLastPara="1" wrap="square" lIns="91425" tIns="45700" rIns="91425" bIns="45700" anchor="t" anchorCtr="0">
            <a:spAutoFit/>
          </a:bodyPr>
          <a:lstStyle/>
          <a:p>
            <a:pPr lvl="0" algn="just">
              <a:buClr>
                <a:schemeClr val="dk1"/>
              </a:buClr>
              <a:buSzPts val="1800"/>
            </a:pPr>
            <a:r>
              <a:rPr lang="en-US" sz="1800" dirty="0">
                <a:solidFill>
                  <a:schemeClr val="dk1"/>
                </a:solidFill>
                <a:latin typeface="Candara" panose="020E0502030303020204" pitchFamily="34" charset="0"/>
                <a:ea typeface="Calibri"/>
                <a:cs typeface="Calibri"/>
                <a:sym typeface="Calibri"/>
              </a:rPr>
              <a:t>This project focuses on analyzing the used car market in India by collecting data from the Cars24 website using Selenium-based web scraping techniques. The objective of the project is to understand pricing patterns, market trends, and consumer preferences in the Indian used car resale market. Data such as car brand, model, price, kilometers driven, fuel type, manufacturing year, and city location was extracted and organized into a structured dataset for analysis.</a:t>
            </a:r>
          </a:p>
          <a:p>
            <a:pPr lvl="0" algn="just">
              <a:buClr>
                <a:schemeClr val="dk1"/>
              </a:buClr>
              <a:buSzPts val="1800"/>
            </a:pPr>
            <a:endParaRPr lang="en-US" sz="1800" dirty="0">
              <a:solidFill>
                <a:schemeClr val="dk1"/>
              </a:solidFill>
              <a:latin typeface="Candara" panose="020E0502030303020204" pitchFamily="34" charset="0"/>
              <a:ea typeface="Calibri"/>
              <a:cs typeface="Calibri"/>
              <a:sym typeface="Calibri"/>
            </a:endParaRPr>
          </a:p>
          <a:p>
            <a:pPr lvl="0" algn="just">
              <a:buClr>
                <a:schemeClr val="dk1"/>
              </a:buClr>
              <a:buSzPts val="1800"/>
            </a:pPr>
            <a:r>
              <a:rPr lang="en-US" sz="1800" dirty="0">
                <a:solidFill>
                  <a:schemeClr val="dk1"/>
                </a:solidFill>
                <a:latin typeface="Candara" panose="020E0502030303020204" pitchFamily="34" charset="0"/>
                <a:ea typeface="Calibri"/>
                <a:cs typeface="Calibri"/>
                <a:sym typeface="Calibri"/>
              </a:rPr>
              <a:t>The project includes both area-wise and brand-wise analysis of used car listings across different cities in India. Area-wise analysis helps identify how car prices, availability, and vehicle usage vary between cities, providing insights into regional demand and pricing differences. By comparing multiple locations, the study highlights which areas have higher listings and different price ranges.</a:t>
            </a:r>
          </a:p>
          <a:p>
            <a:pPr lvl="0" algn="just">
              <a:buClr>
                <a:schemeClr val="dk1"/>
              </a:buClr>
              <a:buSzPts val="1800"/>
            </a:pPr>
            <a:endParaRPr lang="en-US" sz="1800" dirty="0">
              <a:solidFill>
                <a:schemeClr val="dk1"/>
              </a:solidFill>
              <a:latin typeface="Candara" panose="020E0502030303020204" pitchFamily="34" charset="0"/>
              <a:ea typeface="Calibri"/>
              <a:cs typeface="Calibri"/>
              <a:sym typeface="Calibri"/>
            </a:endParaRPr>
          </a:p>
          <a:p>
            <a:pPr lvl="0" algn="just">
              <a:buClr>
                <a:schemeClr val="dk1"/>
              </a:buClr>
              <a:buSzPts val="1800"/>
            </a:pPr>
            <a:r>
              <a:rPr lang="en-US" sz="1800" dirty="0">
                <a:solidFill>
                  <a:schemeClr val="dk1"/>
                </a:solidFill>
                <a:latin typeface="Candara" panose="020E0502030303020204" pitchFamily="34" charset="0"/>
                <a:ea typeface="Calibri"/>
                <a:cs typeface="Calibri"/>
                <a:sym typeface="Calibri"/>
              </a:rPr>
              <a:t>Brand-wise analysis was also performed to understand the popularity and pricing distribution of various car brands in the used car market. This helps identify commonly listed brands and analyze how brand value, vehicle age, and kilometers driven influence resale prices.</a:t>
            </a:r>
          </a:p>
          <a:p>
            <a:pPr lvl="0" algn="just">
              <a:buClr>
                <a:schemeClr val="dk1"/>
              </a:buClr>
              <a:buSzPts val="1800"/>
            </a:pPr>
            <a:endParaRPr lang="en-US" sz="1800" dirty="0">
              <a:solidFill>
                <a:schemeClr val="dk1"/>
              </a:solidFill>
              <a:latin typeface="Candara" panose="020E0502030303020204" pitchFamily="34" charset="0"/>
              <a:ea typeface="Calibri"/>
              <a:cs typeface="Calibri"/>
              <a:sym typeface="Calibri"/>
            </a:endParaRPr>
          </a:p>
          <a:p>
            <a:pPr lvl="0" algn="just">
              <a:buClr>
                <a:schemeClr val="dk1"/>
              </a:buClr>
              <a:buSzPts val="1800"/>
            </a:pPr>
            <a:r>
              <a:rPr lang="en-US" sz="1800" dirty="0">
                <a:solidFill>
                  <a:schemeClr val="dk1"/>
                </a:solidFill>
                <a:latin typeface="Candara" panose="020E0502030303020204" pitchFamily="34" charset="0"/>
                <a:ea typeface="Calibri"/>
                <a:cs typeface="Calibri"/>
                <a:sym typeface="Calibri"/>
              </a:rPr>
              <a:t>After collecting the data, preprocessing and cleaning were performed to ensure accuracy. Exploratory Data Analysis (EDA) and visualizations were used to discover patterns and trends in the dataset. Overall, this project demonstrates how web scraping and data analysis techniques can be used to extract valuable insights from online automobile marketplace data.</a:t>
            </a:r>
          </a:p>
        </p:txBody>
      </p:sp>
      <p:sp>
        <p:nvSpPr>
          <p:cNvPr id="105" name="Google Shape;105;p3"/>
          <p:cNvSpPr txBox="1"/>
          <p:nvPr/>
        </p:nvSpPr>
        <p:spPr>
          <a:xfrm>
            <a:off x="427656" y="416554"/>
            <a:ext cx="6099463" cy="49590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Lato Black"/>
                <a:ea typeface="Lato Black"/>
                <a:cs typeface="Lato Black"/>
                <a:sym typeface="Lato Black"/>
              </a:rPr>
              <a:t>INTRODUCTION</a:t>
            </a:r>
            <a:endParaRPr sz="1800" b="0" i="0" u="none" strike="noStrike" cap="none" dirty="0">
              <a:solidFill>
                <a:srgbClr val="FF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7361A9A-243E-09BF-28A1-48AB5DD07FC7}"/>
            </a:ext>
          </a:extLst>
        </p:cNvPr>
        <p:cNvGrpSpPr/>
        <p:nvPr/>
      </p:nvGrpSpPr>
      <p:grpSpPr>
        <a:xfrm>
          <a:off x="0" y="0"/>
          <a:ext cx="0" cy="0"/>
          <a:chOff x="0" y="0"/>
          <a:chExt cx="0" cy="0"/>
        </a:xfrm>
      </p:grpSpPr>
      <p:sp>
        <p:nvSpPr>
          <p:cNvPr id="104" name="Google Shape;104;p3">
            <a:extLst>
              <a:ext uri="{FF2B5EF4-FFF2-40B4-BE49-F238E27FC236}">
                <a16:creationId xmlns:a16="http://schemas.microsoft.com/office/drawing/2014/main" id="{103E1C73-17B0-5B0A-D86A-E512F09EB001}"/>
              </a:ext>
            </a:extLst>
          </p:cNvPr>
          <p:cNvSpPr txBox="1"/>
          <p:nvPr/>
        </p:nvSpPr>
        <p:spPr>
          <a:xfrm>
            <a:off x="427656" y="1498632"/>
            <a:ext cx="10914496" cy="4093388"/>
          </a:xfrm>
          <a:prstGeom prst="rect">
            <a:avLst/>
          </a:prstGeom>
          <a:noFill/>
          <a:ln>
            <a:noFill/>
          </a:ln>
        </p:spPr>
        <p:txBody>
          <a:bodyPr spcFirstLastPara="1" wrap="square" lIns="91425" tIns="45700" rIns="91425" bIns="45700" anchor="t" anchorCtr="0">
            <a:spAutoFit/>
          </a:bodyPr>
          <a:lstStyle/>
          <a:p>
            <a:pPr lvl="0" algn="just">
              <a:buClr>
                <a:schemeClr val="dk1"/>
              </a:buClr>
              <a:buSzPts val="1800"/>
            </a:pPr>
            <a:r>
              <a:rPr lang="en-US" sz="2000" dirty="0">
                <a:solidFill>
                  <a:schemeClr val="dk1"/>
                </a:solidFill>
                <a:latin typeface="Candara" panose="020E0502030303020204" pitchFamily="34" charset="0"/>
                <a:ea typeface="Calibri"/>
                <a:cs typeface="Calibri"/>
                <a:sym typeface="Calibri"/>
              </a:rPr>
              <a:t>The used car market in India is large and highly dynamic, with prices varying significantly based on factors such as location, brand, vehicle age, fuel type, and kilometers driven. However, buyers, sellers, and automobile platforms often lack clear insights into how these factors influence pricing and demand across different regions. Without proper data analysis, it becomes difficult to understand market trends, identify fair pricing, and determine which brands or cities have higher demand in the resale market.</a:t>
            </a:r>
          </a:p>
          <a:p>
            <a:pPr lvl="0" algn="just">
              <a:buClr>
                <a:schemeClr val="dk1"/>
              </a:buClr>
              <a:buSzPts val="1800"/>
            </a:pPr>
            <a:endParaRPr lang="en-US" sz="2000" dirty="0">
              <a:solidFill>
                <a:schemeClr val="dk1"/>
              </a:solidFill>
              <a:latin typeface="Candara" panose="020E0502030303020204" pitchFamily="34" charset="0"/>
              <a:ea typeface="Calibri"/>
              <a:cs typeface="Calibri"/>
              <a:sym typeface="Calibri"/>
            </a:endParaRPr>
          </a:p>
          <a:p>
            <a:pPr lvl="0" algn="just">
              <a:buClr>
                <a:schemeClr val="dk1"/>
              </a:buClr>
              <a:buSzPts val="1800"/>
            </a:pPr>
            <a:r>
              <a:rPr lang="en-US" sz="2000" dirty="0">
                <a:solidFill>
                  <a:schemeClr val="dk1"/>
                </a:solidFill>
                <a:latin typeface="Candara" panose="020E0502030303020204" pitchFamily="34" charset="0"/>
                <a:ea typeface="Calibri"/>
                <a:cs typeface="Calibri"/>
                <a:sym typeface="Calibri"/>
              </a:rPr>
              <a:t>This project aims to address this problem by collecting used car data from the Cars24 platform through web scraping and performing area-wise and brand-wise analysis. The goal is to uncover patterns in pricing, availability, and vehicle characteristics across different cities and brands. By analyzing this data, the project provides insights that can help businesses, dealers, and consumers make better decisions regarding pricing strategies, inventory planning, and purchasing choices in the used car market.</a:t>
            </a:r>
            <a:endParaRPr sz="2000" dirty="0">
              <a:solidFill>
                <a:schemeClr val="dk1"/>
              </a:solidFill>
              <a:latin typeface="Candara" panose="020E0502030303020204" pitchFamily="34" charset="0"/>
              <a:ea typeface="Calibri"/>
              <a:cs typeface="Calibri"/>
              <a:sym typeface="Calibri"/>
            </a:endParaRPr>
          </a:p>
        </p:txBody>
      </p:sp>
      <p:sp>
        <p:nvSpPr>
          <p:cNvPr id="105" name="Google Shape;105;p3">
            <a:extLst>
              <a:ext uri="{FF2B5EF4-FFF2-40B4-BE49-F238E27FC236}">
                <a16:creationId xmlns:a16="http://schemas.microsoft.com/office/drawing/2014/main" id="{CEA75D9E-FC93-F100-E7F5-691625E9711F}"/>
              </a:ext>
            </a:extLst>
          </p:cNvPr>
          <p:cNvSpPr txBox="1"/>
          <p:nvPr/>
        </p:nvSpPr>
        <p:spPr>
          <a:xfrm>
            <a:off x="427656" y="550777"/>
            <a:ext cx="6099463" cy="49590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Lato Black"/>
                <a:ea typeface="Lato Black"/>
                <a:cs typeface="Lato Black"/>
                <a:sym typeface="Lato Black"/>
              </a:rPr>
              <a:t>BUSINESS PROBLEM</a:t>
            </a:r>
            <a:endParaRPr sz="1800" b="0" i="0" u="none" strike="noStrike" cap="none" dirty="0">
              <a:solidFill>
                <a:srgbClr val="FF0000"/>
              </a:solidFill>
              <a:latin typeface="Calibri"/>
              <a:ea typeface="Calibri"/>
              <a:cs typeface="Calibri"/>
              <a:sym typeface="Calibri"/>
            </a:endParaRPr>
          </a:p>
        </p:txBody>
      </p:sp>
    </p:spTree>
    <p:extLst>
      <p:ext uri="{BB962C8B-B14F-4D97-AF65-F5344CB8AC3E}">
        <p14:creationId xmlns:p14="http://schemas.microsoft.com/office/powerpoint/2010/main" val="4063125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E9E8A5C9-410C-C570-0F0A-C1F10E331F23}"/>
            </a:ext>
          </a:extLst>
        </p:cNvPr>
        <p:cNvGrpSpPr/>
        <p:nvPr/>
      </p:nvGrpSpPr>
      <p:grpSpPr>
        <a:xfrm>
          <a:off x="0" y="0"/>
          <a:ext cx="0" cy="0"/>
          <a:chOff x="0" y="0"/>
          <a:chExt cx="0" cy="0"/>
        </a:xfrm>
      </p:grpSpPr>
      <p:sp>
        <p:nvSpPr>
          <p:cNvPr id="104" name="Google Shape;104;p3">
            <a:extLst>
              <a:ext uri="{FF2B5EF4-FFF2-40B4-BE49-F238E27FC236}">
                <a16:creationId xmlns:a16="http://schemas.microsoft.com/office/drawing/2014/main" id="{39AF5F1A-799F-91A3-179B-E3D2CEDCC4B5}"/>
              </a:ext>
            </a:extLst>
          </p:cNvPr>
          <p:cNvSpPr txBox="1"/>
          <p:nvPr/>
        </p:nvSpPr>
        <p:spPr>
          <a:xfrm>
            <a:off x="383006" y="853737"/>
            <a:ext cx="11425988" cy="5909270"/>
          </a:xfrm>
          <a:prstGeom prst="rect">
            <a:avLst/>
          </a:prstGeom>
          <a:noFill/>
          <a:ln>
            <a:noFill/>
          </a:ln>
        </p:spPr>
        <p:txBody>
          <a:bodyPr spcFirstLastPara="1" wrap="square" lIns="91425" tIns="45700" rIns="91425" bIns="45700" anchor="t" anchorCtr="0">
            <a:spAutoFit/>
          </a:bodyPr>
          <a:lstStyle/>
          <a:p>
            <a:pPr lvl="0" algn="just">
              <a:buClr>
                <a:schemeClr val="dk1"/>
              </a:buClr>
              <a:buSzPts val="1800"/>
            </a:pPr>
            <a:r>
              <a:rPr lang="en-US" sz="1800" dirty="0">
                <a:solidFill>
                  <a:schemeClr val="dk1"/>
                </a:solidFill>
                <a:latin typeface="Candara" panose="020E0502030303020204" pitchFamily="34" charset="0"/>
                <a:ea typeface="Calibri"/>
                <a:cs typeface="Calibri"/>
                <a:sym typeface="Calibri"/>
              </a:rPr>
              <a:t>1. Collect Used Car Data : To extract used car listing data from the Cars24 website using Selenium web scraping, including attributes such as car brand, model, price, kilometers driven, fuel type, manufacturing year, and city.</a:t>
            </a:r>
          </a:p>
          <a:p>
            <a:pPr lvl="0" algn="just">
              <a:buClr>
                <a:schemeClr val="dk1"/>
              </a:buClr>
              <a:buSzPts val="1800"/>
            </a:pPr>
            <a:endParaRPr lang="en-US" sz="1800" dirty="0">
              <a:solidFill>
                <a:schemeClr val="dk1"/>
              </a:solidFill>
              <a:latin typeface="Candara" panose="020E0502030303020204" pitchFamily="34" charset="0"/>
              <a:ea typeface="Calibri"/>
              <a:cs typeface="Calibri"/>
              <a:sym typeface="Calibri"/>
            </a:endParaRPr>
          </a:p>
          <a:p>
            <a:pPr lvl="0" algn="just">
              <a:buClr>
                <a:schemeClr val="dk1"/>
              </a:buClr>
              <a:buSzPts val="1800"/>
            </a:pPr>
            <a:r>
              <a:rPr lang="en-US" sz="1800" dirty="0">
                <a:solidFill>
                  <a:schemeClr val="dk1"/>
                </a:solidFill>
                <a:latin typeface="Candara" panose="020E0502030303020204" pitchFamily="34" charset="0"/>
                <a:ea typeface="Calibri"/>
                <a:cs typeface="Calibri"/>
                <a:sym typeface="Calibri"/>
              </a:rPr>
              <a:t>2.  Prepare and Clean the Dataset : To organize the scraped data into a structured format and perform data cleaning and preprocessing to handle missing values, inconsistencies, and outliers.</a:t>
            </a:r>
          </a:p>
          <a:p>
            <a:pPr lvl="0" algn="just">
              <a:buClr>
                <a:schemeClr val="dk1"/>
              </a:buClr>
              <a:buSzPts val="1800"/>
            </a:pPr>
            <a:endParaRPr lang="en-US" sz="1800" dirty="0">
              <a:solidFill>
                <a:schemeClr val="dk1"/>
              </a:solidFill>
              <a:latin typeface="Candara" panose="020E0502030303020204" pitchFamily="34" charset="0"/>
              <a:ea typeface="Calibri"/>
              <a:cs typeface="Calibri"/>
              <a:sym typeface="Calibri"/>
            </a:endParaRPr>
          </a:p>
          <a:p>
            <a:pPr lvl="0" algn="just">
              <a:buClr>
                <a:schemeClr val="dk1"/>
              </a:buClr>
              <a:buSzPts val="1800"/>
            </a:pPr>
            <a:r>
              <a:rPr lang="en-US" sz="1800" dirty="0">
                <a:solidFill>
                  <a:schemeClr val="dk1"/>
                </a:solidFill>
                <a:latin typeface="Candara" panose="020E0502030303020204" pitchFamily="34" charset="0"/>
                <a:ea typeface="Calibri"/>
                <a:cs typeface="Calibri"/>
                <a:sym typeface="Calibri"/>
              </a:rPr>
              <a:t>3.  Perform Area-Wise Analysis : To analyze how used car prices, availability, and vehicle usage vary across different cities in India and identify regional trends in the resale market.</a:t>
            </a:r>
          </a:p>
          <a:p>
            <a:pPr lvl="0" algn="just">
              <a:buClr>
                <a:schemeClr val="dk1"/>
              </a:buClr>
              <a:buSzPts val="1800"/>
            </a:pPr>
            <a:endParaRPr lang="en-US" sz="1800" dirty="0">
              <a:solidFill>
                <a:schemeClr val="dk1"/>
              </a:solidFill>
              <a:latin typeface="Candara" panose="020E0502030303020204" pitchFamily="34" charset="0"/>
              <a:ea typeface="Calibri"/>
              <a:cs typeface="Calibri"/>
              <a:sym typeface="Calibri"/>
            </a:endParaRPr>
          </a:p>
          <a:p>
            <a:pPr lvl="0" algn="just">
              <a:buClr>
                <a:schemeClr val="dk1"/>
              </a:buClr>
              <a:buSzPts val="1800"/>
            </a:pPr>
            <a:r>
              <a:rPr lang="en-US" sz="1800" dirty="0">
                <a:solidFill>
                  <a:schemeClr val="dk1"/>
                </a:solidFill>
                <a:latin typeface="Candara" panose="020E0502030303020204" pitchFamily="34" charset="0"/>
                <a:ea typeface="Calibri"/>
                <a:cs typeface="Calibri"/>
                <a:sym typeface="Calibri"/>
              </a:rPr>
              <a:t>4.  Conduct Brand-Wise Analysis  : To study the distribution and popularity of different car brands in the used car market and examine how brand value affects resale price.</a:t>
            </a:r>
          </a:p>
          <a:p>
            <a:pPr lvl="0" algn="just">
              <a:buClr>
                <a:schemeClr val="dk1"/>
              </a:buClr>
              <a:buSzPts val="1800"/>
            </a:pPr>
            <a:endParaRPr lang="en-US" sz="1800" dirty="0">
              <a:solidFill>
                <a:schemeClr val="dk1"/>
              </a:solidFill>
              <a:latin typeface="Candara" panose="020E0502030303020204" pitchFamily="34" charset="0"/>
              <a:ea typeface="Calibri"/>
              <a:cs typeface="Calibri"/>
              <a:sym typeface="Calibri"/>
            </a:endParaRPr>
          </a:p>
          <a:p>
            <a:pPr lvl="0" algn="just">
              <a:buClr>
                <a:schemeClr val="dk1"/>
              </a:buClr>
              <a:buSzPts val="1800"/>
            </a:pPr>
            <a:r>
              <a:rPr lang="en-US" sz="1800" dirty="0">
                <a:solidFill>
                  <a:schemeClr val="dk1"/>
                </a:solidFill>
                <a:latin typeface="Candara" panose="020E0502030303020204" pitchFamily="34" charset="0"/>
                <a:ea typeface="Calibri"/>
                <a:cs typeface="Calibri"/>
                <a:sym typeface="Calibri"/>
              </a:rPr>
              <a:t>5.  Identify Pricing Patterns : To analyze the relationship between factors such as kilometers driven, vehicle age, fuel type, and brand with the price of used cars.</a:t>
            </a:r>
          </a:p>
          <a:p>
            <a:pPr lvl="0" algn="just">
              <a:buClr>
                <a:schemeClr val="dk1"/>
              </a:buClr>
              <a:buSzPts val="1800"/>
            </a:pPr>
            <a:endParaRPr lang="en-US" sz="1800" dirty="0">
              <a:solidFill>
                <a:schemeClr val="dk1"/>
              </a:solidFill>
              <a:latin typeface="Candara" panose="020E0502030303020204" pitchFamily="34" charset="0"/>
              <a:ea typeface="Calibri"/>
              <a:cs typeface="Calibri"/>
              <a:sym typeface="Calibri"/>
            </a:endParaRPr>
          </a:p>
          <a:p>
            <a:pPr lvl="0" algn="just">
              <a:buClr>
                <a:schemeClr val="dk1"/>
              </a:buClr>
              <a:buSzPts val="1800"/>
            </a:pPr>
            <a:r>
              <a:rPr lang="en-US" sz="1800" dirty="0">
                <a:solidFill>
                  <a:schemeClr val="dk1"/>
                </a:solidFill>
                <a:latin typeface="Candara" panose="020E0502030303020204" pitchFamily="34" charset="0"/>
                <a:ea typeface="Calibri"/>
                <a:cs typeface="Calibri"/>
                <a:sym typeface="Calibri"/>
              </a:rPr>
              <a:t>6.  Generate Insights Through Visualization : To use exploratory data analysis (EDA) and visualization techniques to identify patterns, trends, and key insights in the dataset.</a:t>
            </a:r>
          </a:p>
          <a:p>
            <a:pPr lvl="0" algn="just">
              <a:buClr>
                <a:schemeClr val="dk1"/>
              </a:buClr>
              <a:buSzPts val="1800"/>
            </a:pPr>
            <a:endParaRPr lang="en-US" sz="1800" dirty="0">
              <a:solidFill>
                <a:schemeClr val="dk1"/>
              </a:solidFill>
              <a:latin typeface="Candara" panose="020E0502030303020204" pitchFamily="34" charset="0"/>
              <a:ea typeface="Calibri"/>
              <a:cs typeface="Calibri"/>
              <a:sym typeface="Calibri"/>
            </a:endParaRPr>
          </a:p>
          <a:p>
            <a:pPr lvl="0" algn="just">
              <a:buClr>
                <a:schemeClr val="dk1"/>
              </a:buClr>
              <a:buSzPts val="1800"/>
            </a:pPr>
            <a:r>
              <a:rPr lang="en-US" sz="1800" dirty="0">
                <a:solidFill>
                  <a:schemeClr val="dk1"/>
                </a:solidFill>
                <a:latin typeface="Candara" panose="020E0502030303020204" pitchFamily="34" charset="0"/>
                <a:ea typeface="Calibri"/>
                <a:cs typeface="Calibri"/>
                <a:sym typeface="Calibri"/>
              </a:rPr>
              <a:t>7.  Support Data-Driven Decisions : To provide insights that can help buyers, sellers, and businesses understand market trends and make informed decisions in the used car resale market.</a:t>
            </a:r>
          </a:p>
          <a:p>
            <a:pPr marR="0" lvl="0" algn="just" rtl="0">
              <a:spcBef>
                <a:spcPts val="0"/>
              </a:spcBef>
              <a:spcAft>
                <a:spcPts val="0"/>
              </a:spcAft>
              <a:buClr>
                <a:schemeClr val="dk1"/>
              </a:buClr>
              <a:buSzPts val="1800"/>
            </a:pPr>
            <a:endParaRPr sz="1800" dirty="0">
              <a:solidFill>
                <a:schemeClr val="dk1"/>
              </a:solidFill>
              <a:latin typeface="Candara" panose="020E0502030303020204" pitchFamily="34" charset="0"/>
              <a:ea typeface="Calibri"/>
              <a:cs typeface="Calibri"/>
              <a:sym typeface="Calibri"/>
            </a:endParaRPr>
          </a:p>
        </p:txBody>
      </p:sp>
      <p:sp>
        <p:nvSpPr>
          <p:cNvPr id="105" name="Google Shape;105;p3">
            <a:extLst>
              <a:ext uri="{FF2B5EF4-FFF2-40B4-BE49-F238E27FC236}">
                <a16:creationId xmlns:a16="http://schemas.microsoft.com/office/drawing/2014/main" id="{6BF75653-91EA-D5A8-C22D-92E9FBBE81FD}"/>
              </a:ext>
            </a:extLst>
          </p:cNvPr>
          <p:cNvSpPr txBox="1"/>
          <p:nvPr/>
        </p:nvSpPr>
        <p:spPr>
          <a:xfrm>
            <a:off x="427656" y="357832"/>
            <a:ext cx="6099463" cy="49590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Lato Black"/>
                <a:ea typeface="Lato Black"/>
                <a:cs typeface="Lato Black"/>
                <a:sym typeface="Lato Black"/>
              </a:rPr>
              <a:t>OBJECTIVES</a:t>
            </a:r>
            <a:endParaRPr sz="1800" b="0" i="0" u="none" strike="noStrike" cap="none" dirty="0">
              <a:solidFill>
                <a:srgbClr val="FF0000"/>
              </a:solidFill>
              <a:latin typeface="Calibri"/>
              <a:ea typeface="Calibri"/>
              <a:cs typeface="Calibri"/>
              <a:sym typeface="Calibri"/>
            </a:endParaRPr>
          </a:p>
        </p:txBody>
      </p:sp>
    </p:spTree>
    <p:extLst>
      <p:ext uri="{BB962C8B-B14F-4D97-AF65-F5344CB8AC3E}">
        <p14:creationId xmlns:p14="http://schemas.microsoft.com/office/powerpoint/2010/main" val="305029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82A5E092-6366-50FF-7C5B-24FE6D6BCC15}"/>
            </a:ext>
          </a:extLst>
        </p:cNvPr>
        <p:cNvGrpSpPr/>
        <p:nvPr/>
      </p:nvGrpSpPr>
      <p:grpSpPr>
        <a:xfrm>
          <a:off x="0" y="0"/>
          <a:ext cx="0" cy="0"/>
          <a:chOff x="0" y="0"/>
          <a:chExt cx="0" cy="0"/>
        </a:xfrm>
      </p:grpSpPr>
      <p:sp>
        <p:nvSpPr>
          <p:cNvPr id="104" name="Google Shape;104;p3">
            <a:extLst>
              <a:ext uri="{FF2B5EF4-FFF2-40B4-BE49-F238E27FC236}">
                <a16:creationId xmlns:a16="http://schemas.microsoft.com/office/drawing/2014/main" id="{A18D5870-0B6A-0F45-4FAF-1A50C29EE834}"/>
              </a:ext>
            </a:extLst>
          </p:cNvPr>
          <p:cNvSpPr txBox="1"/>
          <p:nvPr/>
        </p:nvSpPr>
        <p:spPr>
          <a:xfrm>
            <a:off x="310209" y="948730"/>
            <a:ext cx="6099463" cy="5909270"/>
          </a:xfrm>
          <a:prstGeom prst="rect">
            <a:avLst/>
          </a:prstGeom>
          <a:noFill/>
          <a:ln>
            <a:noFill/>
          </a:ln>
        </p:spPr>
        <p:txBody>
          <a:bodyPr spcFirstLastPara="1" wrap="square" lIns="91425" tIns="45700" rIns="91425" bIns="45700" anchor="t" anchorCtr="0">
            <a:spAutoFit/>
          </a:bodyPr>
          <a:lstStyle/>
          <a:p>
            <a:pPr marL="285750" lvl="0" indent="-285750">
              <a:buClr>
                <a:schemeClr val="dk1"/>
              </a:buClr>
              <a:buSzPts val="1800"/>
              <a:buFont typeface="Arial" panose="020B0604020202020204" pitchFamily="34" charset="0"/>
              <a:buChar char="•"/>
            </a:pPr>
            <a:r>
              <a:rPr lang="en-US" dirty="0">
                <a:solidFill>
                  <a:schemeClr val="dk1"/>
                </a:solidFill>
                <a:latin typeface="Calibri"/>
                <a:ea typeface="Calibri"/>
                <a:cs typeface="Calibri"/>
                <a:sym typeface="Calibri"/>
              </a:rPr>
              <a:t>Tool Used: Selenium WebDriver with Python to automate browser actions and extract dynamic website data.</a:t>
            </a:r>
          </a:p>
          <a:p>
            <a:pPr marL="285750" lvl="0" indent="-285750">
              <a:buClr>
                <a:schemeClr val="dk1"/>
              </a:buClr>
              <a:buSzPts val="1800"/>
              <a:buFont typeface="Arial" panose="020B0604020202020204" pitchFamily="34" charset="0"/>
              <a:buChar char="•"/>
            </a:pPr>
            <a:r>
              <a:rPr lang="en-US" dirty="0">
                <a:solidFill>
                  <a:schemeClr val="dk1"/>
                </a:solidFill>
                <a:latin typeface="Calibri"/>
                <a:ea typeface="Calibri"/>
                <a:cs typeface="Calibri"/>
                <a:sym typeface="Calibri"/>
              </a:rPr>
              <a:t>Target Website:  Cars24 used car listings.</a:t>
            </a:r>
          </a:p>
          <a:p>
            <a:pPr marL="285750" lvl="0" indent="-285750">
              <a:buClr>
                <a:schemeClr val="dk1"/>
              </a:buClr>
              <a:buSzPts val="1800"/>
              <a:buFont typeface="Arial" panose="020B0604020202020204" pitchFamily="34" charset="0"/>
              <a:buChar char="•"/>
            </a:pPr>
            <a:r>
              <a:rPr lang="en-US" dirty="0">
                <a:solidFill>
                  <a:schemeClr val="dk1"/>
                </a:solidFill>
                <a:latin typeface="Calibri"/>
                <a:ea typeface="Calibri"/>
                <a:cs typeface="Calibri"/>
                <a:sym typeface="Calibri"/>
              </a:rPr>
              <a:t>Cities Covered:  Delhi, Bangalore, Mumbai, Hyderabad, Pune, Gurgaon, Ahmedabad, and Chennai.</a:t>
            </a:r>
          </a:p>
          <a:p>
            <a:pPr marL="285750" lvl="0" indent="-285750">
              <a:buClr>
                <a:schemeClr val="dk1"/>
              </a:buClr>
              <a:buSzPts val="1800"/>
              <a:buFont typeface="Arial" panose="020B0604020202020204" pitchFamily="34" charset="0"/>
              <a:buChar char="•"/>
            </a:pPr>
            <a:r>
              <a:rPr lang="en-US" dirty="0">
                <a:solidFill>
                  <a:schemeClr val="dk1"/>
                </a:solidFill>
                <a:latin typeface="Calibri"/>
                <a:ea typeface="Calibri"/>
                <a:cs typeface="Calibri"/>
                <a:sym typeface="Calibri"/>
              </a:rPr>
              <a:t>Browser Automation:  Selenium opened the Chrome browser and navigated to the Cars24 website.</a:t>
            </a:r>
          </a:p>
          <a:p>
            <a:pPr marL="285750" lvl="0" indent="-285750">
              <a:buClr>
                <a:schemeClr val="dk1"/>
              </a:buClr>
              <a:buSzPts val="1800"/>
              <a:buFont typeface="Arial" panose="020B0604020202020204" pitchFamily="34" charset="0"/>
              <a:buChar char="•"/>
            </a:pPr>
            <a:r>
              <a:rPr lang="en-US" dirty="0">
                <a:solidFill>
                  <a:schemeClr val="dk1"/>
                </a:solidFill>
                <a:latin typeface="Calibri"/>
                <a:ea typeface="Calibri"/>
                <a:cs typeface="Calibri"/>
                <a:sym typeface="Calibri"/>
              </a:rPr>
              <a:t>City Selection:  The script automatically selected each city to collect location-specific car listings.</a:t>
            </a:r>
          </a:p>
          <a:p>
            <a:pPr marL="285750" lvl="0" indent="-285750">
              <a:buClr>
                <a:schemeClr val="dk1"/>
              </a:buClr>
              <a:buSzPts val="1800"/>
              <a:buFont typeface="Arial" panose="020B0604020202020204" pitchFamily="34" charset="0"/>
              <a:buChar char="•"/>
            </a:pPr>
            <a:r>
              <a:rPr lang="en-US" dirty="0">
                <a:solidFill>
                  <a:schemeClr val="dk1"/>
                </a:solidFill>
                <a:latin typeface="Calibri"/>
                <a:ea typeface="Calibri"/>
                <a:cs typeface="Calibri"/>
                <a:sym typeface="Calibri"/>
              </a:rPr>
              <a:t>Dynamic Content Handling:  Explicit waits were used to ensure webpage elements fully loaded before extracting data.</a:t>
            </a:r>
          </a:p>
          <a:p>
            <a:pPr marL="285750" lvl="0" indent="-285750">
              <a:buClr>
                <a:schemeClr val="dk1"/>
              </a:buClr>
              <a:buSzPts val="1800"/>
              <a:buFont typeface="Arial" panose="020B0604020202020204" pitchFamily="34" charset="0"/>
              <a:buChar char="•"/>
            </a:pPr>
            <a:r>
              <a:rPr lang="en-US" dirty="0">
                <a:solidFill>
                  <a:schemeClr val="dk1"/>
                </a:solidFill>
                <a:latin typeface="Calibri"/>
                <a:ea typeface="Calibri"/>
                <a:cs typeface="Calibri"/>
                <a:sym typeface="Calibri"/>
              </a:rPr>
              <a:t>Auto Scrolling:  Implemented scrolling to load more car listings that appear dynamically on the page.</a:t>
            </a:r>
          </a:p>
          <a:p>
            <a:pPr marL="285750" lvl="0" indent="-285750">
              <a:buClr>
                <a:schemeClr val="dk1"/>
              </a:buClr>
              <a:buSzPts val="1800"/>
              <a:buFont typeface="Arial" panose="020B0604020202020204" pitchFamily="34" charset="0"/>
              <a:buChar char="•"/>
            </a:pPr>
            <a:r>
              <a:rPr lang="en-US" dirty="0">
                <a:solidFill>
                  <a:schemeClr val="dk1"/>
                </a:solidFill>
                <a:latin typeface="Calibri"/>
                <a:ea typeface="Calibri"/>
                <a:cs typeface="Calibri"/>
                <a:sym typeface="Calibri"/>
              </a:rPr>
              <a:t>Data Extraction:  Used XPath/CSS selectors to collect details such as:</a:t>
            </a:r>
          </a:p>
          <a:p>
            <a:pPr marL="285750" lvl="0" indent="-285750">
              <a:buClr>
                <a:schemeClr val="dk1"/>
              </a:buClr>
              <a:buSzPts val="1800"/>
              <a:buFont typeface="Wingdings" panose="05000000000000000000" pitchFamily="2" charset="2"/>
              <a:buChar char="§"/>
            </a:pPr>
            <a:r>
              <a:rPr lang="en-US" dirty="0">
                <a:solidFill>
                  <a:schemeClr val="dk1"/>
                </a:solidFill>
                <a:latin typeface="Calibri"/>
                <a:ea typeface="Calibri"/>
                <a:cs typeface="Calibri"/>
                <a:sym typeface="Calibri"/>
              </a:rPr>
              <a:t> Car Brand and Model</a:t>
            </a:r>
          </a:p>
          <a:p>
            <a:pPr marL="285750" lvl="0" indent="-285750">
              <a:buClr>
                <a:schemeClr val="dk1"/>
              </a:buClr>
              <a:buSzPts val="1800"/>
              <a:buFont typeface="Wingdings" panose="05000000000000000000" pitchFamily="2" charset="2"/>
              <a:buChar char="§"/>
            </a:pPr>
            <a:r>
              <a:rPr lang="en-US" dirty="0">
                <a:solidFill>
                  <a:schemeClr val="dk1"/>
                </a:solidFill>
                <a:latin typeface="Calibri"/>
                <a:ea typeface="Calibri"/>
                <a:cs typeface="Calibri"/>
                <a:sym typeface="Calibri"/>
              </a:rPr>
              <a:t> Price</a:t>
            </a:r>
          </a:p>
          <a:p>
            <a:pPr marL="285750" lvl="0" indent="-285750">
              <a:buClr>
                <a:schemeClr val="dk1"/>
              </a:buClr>
              <a:buSzPts val="1800"/>
              <a:buFont typeface="Wingdings" panose="05000000000000000000" pitchFamily="2" charset="2"/>
              <a:buChar char="§"/>
            </a:pPr>
            <a:r>
              <a:rPr lang="en-US" dirty="0">
                <a:solidFill>
                  <a:schemeClr val="dk1"/>
                </a:solidFill>
                <a:latin typeface="Calibri"/>
                <a:ea typeface="Calibri"/>
                <a:cs typeface="Calibri"/>
                <a:sym typeface="Calibri"/>
              </a:rPr>
              <a:t>Kilometers Driven</a:t>
            </a:r>
          </a:p>
          <a:p>
            <a:pPr marL="285750" lvl="0" indent="-285750">
              <a:buClr>
                <a:schemeClr val="dk1"/>
              </a:buClr>
              <a:buSzPts val="1800"/>
              <a:buFont typeface="Wingdings" panose="05000000000000000000" pitchFamily="2" charset="2"/>
              <a:buChar char="§"/>
            </a:pPr>
            <a:r>
              <a:rPr lang="en-US" dirty="0">
                <a:solidFill>
                  <a:schemeClr val="dk1"/>
                </a:solidFill>
                <a:latin typeface="Calibri"/>
                <a:ea typeface="Calibri"/>
                <a:cs typeface="Calibri"/>
                <a:sym typeface="Calibri"/>
              </a:rPr>
              <a:t>Fuel Type</a:t>
            </a:r>
          </a:p>
          <a:p>
            <a:pPr marL="285750" lvl="0" indent="-285750">
              <a:buClr>
                <a:schemeClr val="dk1"/>
              </a:buClr>
              <a:buSzPts val="1800"/>
              <a:buFont typeface="Wingdings" panose="05000000000000000000" pitchFamily="2" charset="2"/>
              <a:buChar char="§"/>
            </a:pPr>
            <a:r>
              <a:rPr lang="en-US" dirty="0">
                <a:solidFill>
                  <a:schemeClr val="dk1"/>
                </a:solidFill>
                <a:latin typeface="Calibri"/>
                <a:ea typeface="Calibri"/>
                <a:cs typeface="Calibri"/>
                <a:sym typeface="Calibri"/>
              </a:rPr>
              <a:t>Location/City</a:t>
            </a:r>
          </a:p>
          <a:p>
            <a:pPr marL="285750" lvl="0" indent="-285750">
              <a:buClr>
                <a:schemeClr val="dk1"/>
              </a:buClr>
              <a:buSzPts val="1800"/>
              <a:buFont typeface="Arial" panose="020B0604020202020204" pitchFamily="34" charset="0"/>
              <a:buChar char="•"/>
            </a:pPr>
            <a:r>
              <a:rPr lang="en-US" dirty="0">
                <a:solidFill>
                  <a:schemeClr val="dk1"/>
                </a:solidFill>
                <a:latin typeface="Calibri"/>
                <a:ea typeface="Calibri"/>
                <a:cs typeface="Calibri"/>
                <a:sym typeface="Calibri"/>
              </a:rPr>
              <a:t>Iteration:  The process was repeated for multiple listings across all eight cities to build a larger dataset.</a:t>
            </a:r>
          </a:p>
          <a:p>
            <a:pPr marL="285750" lvl="0" indent="-285750">
              <a:buClr>
                <a:schemeClr val="dk1"/>
              </a:buClr>
              <a:buSzPts val="1800"/>
              <a:buFont typeface="Arial" panose="020B0604020202020204" pitchFamily="34" charset="0"/>
              <a:buChar char="•"/>
            </a:pPr>
            <a:r>
              <a:rPr lang="en-US" dirty="0">
                <a:solidFill>
                  <a:schemeClr val="dk1"/>
                </a:solidFill>
                <a:latin typeface="Calibri"/>
                <a:ea typeface="Calibri"/>
                <a:cs typeface="Calibri"/>
                <a:sym typeface="Calibri"/>
              </a:rPr>
              <a:t>Data Storage:  Extracted data was stored in a Pandas </a:t>
            </a:r>
            <a:r>
              <a:rPr lang="en-US" dirty="0" err="1">
                <a:solidFill>
                  <a:schemeClr val="dk1"/>
                </a:solidFill>
                <a:latin typeface="Calibri"/>
                <a:ea typeface="Calibri"/>
                <a:cs typeface="Calibri"/>
                <a:sym typeface="Calibri"/>
              </a:rPr>
              <a:t>DataFrame</a:t>
            </a:r>
            <a:r>
              <a:rPr lang="en-US" dirty="0">
                <a:solidFill>
                  <a:schemeClr val="dk1"/>
                </a:solidFill>
                <a:latin typeface="Calibri"/>
                <a:ea typeface="Calibri"/>
                <a:cs typeface="Calibri"/>
                <a:sym typeface="Calibri"/>
              </a:rPr>
              <a:t>.</a:t>
            </a:r>
          </a:p>
          <a:p>
            <a:pPr marL="285750" lvl="0" indent="-285750">
              <a:buClr>
                <a:schemeClr val="dk1"/>
              </a:buClr>
              <a:buSzPts val="1800"/>
              <a:buFont typeface="Arial" panose="020B0604020202020204" pitchFamily="34" charset="0"/>
              <a:buChar char="•"/>
            </a:pPr>
            <a:r>
              <a:rPr lang="en-US" dirty="0">
                <a:solidFill>
                  <a:schemeClr val="dk1"/>
                </a:solidFill>
                <a:latin typeface="Calibri"/>
                <a:ea typeface="Calibri"/>
                <a:cs typeface="Calibri"/>
                <a:sym typeface="Calibri"/>
              </a:rPr>
              <a:t>Export:  Final dataset was saved in CSV/Excel format for further analysis and visualization.</a:t>
            </a:r>
          </a:p>
          <a:p>
            <a:pPr marL="285750" lvl="0" indent="-285750">
              <a:buClr>
                <a:schemeClr val="dk1"/>
              </a:buClr>
              <a:buSzPts val="1800"/>
              <a:buFont typeface="Arial" panose="020B0604020202020204" pitchFamily="34" charset="0"/>
              <a:buChar char="•"/>
            </a:pPr>
            <a:r>
              <a:rPr lang="en-US" dirty="0">
                <a:solidFill>
                  <a:schemeClr val="dk1"/>
                </a:solidFill>
                <a:latin typeface="Calibri"/>
                <a:ea typeface="Calibri"/>
                <a:cs typeface="Calibri"/>
                <a:sym typeface="Calibri"/>
              </a:rPr>
              <a:t>Purpose: The collected data was used to perform area-wise and brand-wise analysis of the used car market in India.</a:t>
            </a:r>
          </a:p>
          <a:p>
            <a:pPr marR="0" lvl="0" algn="l" rtl="0">
              <a:spcBef>
                <a:spcPts val="0"/>
              </a:spcBef>
              <a:spcAft>
                <a:spcPts val="0"/>
              </a:spcAft>
              <a:buClr>
                <a:schemeClr val="dk1"/>
              </a:buClr>
              <a:buSzPts val="1800"/>
            </a:pPr>
            <a:endParaRPr dirty="0">
              <a:solidFill>
                <a:schemeClr val="dk1"/>
              </a:solidFill>
              <a:latin typeface="Calibri"/>
              <a:ea typeface="Calibri"/>
              <a:cs typeface="Calibri"/>
              <a:sym typeface="Calibri"/>
            </a:endParaRPr>
          </a:p>
        </p:txBody>
      </p:sp>
      <p:sp>
        <p:nvSpPr>
          <p:cNvPr id="105" name="Google Shape;105;p3">
            <a:extLst>
              <a:ext uri="{FF2B5EF4-FFF2-40B4-BE49-F238E27FC236}">
                <a16:creationId xmlns:a16="http://schemas.microsoft.com/office/drawing/2014/main" id="{0FEB569A-C0FD-947A-CD7D-31B1314953EA}"/>
              </a:ext>
            </a:extLst>
          </p:cNvPr>
          <p:cNvSpPr txBox="1"/>
          <p:nvPr/>
        </p:nvSpPr>
        <p:spPr>
          <a:xfrm>
            <a:off x="310210" y="285999"/>
            <a:ext cx="6099463" cy="49590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Lato Black"/>
                <a:ea typeface="Lato Black"/>
                <a:cs typeface="Lato Black"/>
                <a:sym typeface="Lato Black"/>
              </a:rPr>
              <a:t>WEB SCRAPING</a:t>
            </a:r>
            <a:endParaRPr sz="1800" b="0" i="0" u="none" strike="noStrike" cap="none" dirty="0">
              <a:solidFill>
                <a:srgbClr val="FF0000"/>
              </a:solidFill>
              <a:latin typeface="Calibri"/>
              <a:ea typeface="Calibri"/>
              <a:cs typeface="Calibri"/>
              <a:sym typeface="Calibri"/>
            </a:endParaRPr>
          </a:p>
        </p:txBody>
      </p:sp>
      <p:pic>
        <p:nvPicPr>
          <p:cNvPr id="3" name="Picture 2" descr="The image shows a webpage with a car buying platform, displaying various used car options in Delhi NCR, including a 2015 Honda Brio priced at ￢ﾂﾹ50,000.&#10;&#10;AI-generated content may be incorrect.">
            <a:extLst>
              <a:ext uri="{FF2B5EF4-FFF2-40B4-BE49-F238E27FC236}">
                <a16:creationId xmlns:a16="http://schemas.microsoft.com/office/drawing/2014/main" id="{B62BA12D-46CB-825D-C7E0-64CE051B0FB3}"/>
              </a:ext>
            </a:extLst>
          </p:cNvPr>
          <p:cNvPicPr>
            <a:picLocks noChangeAspect="1"/>
          </p:cNvPicPr>
          <p:nvPr/>
        </p:nvPicPr>
        <p:blipFill>
          <a:blip r:embed="rId3"/>
          <a:stretch>
            <a:fillRect/>
          </a:stretch>
        </p:blipFill>
        <p:spPr>
          <a:xfrm>
            <a:off x="6409672" y="781904"/>
            <a:ext cx="5782949" cy="5132336"/>
          </a:xfrm>
          <a:prstGeom prst="rect">
            <a:avLst/>
          </a:prstGeom>
        </p:spPr>
      </p:pic>
    </p:spTree>
    <p:extLst>
      <p:ext uri="{BB962C8B-B14F-4D97-AF65-F5344CB8AC3E}">
        <p14:creationId xmlns:p14="http://schemas.microsoft.com/office/powerpoint/2010/main" val="3370695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1BCB81-15EF-DB78-B84D-BC2500E38670}"/>
            </a:ext>
          </a:extLst>
        </p:cNvPr>
        <p:cNvGrpSpPr/>
        <p:nvPr/>
      </p:nvGrpSpPr>
      <p:grpSpPr>
        <a:xfrm>
          <a:off x="0" y="0"/>
          <a:ext cx="0" cy="0"/>
          <a:chOff x="0" y="0"/>
          <a:chExt cx="0" cy="0"/>
        </a:xfrm>
      </p:grpSpPr>
      <p:sp>
        <p:nvSpPr>
          <p:cNvPr id="104" name="Google Shape;104;p3">
            <a:extLst>
              <a:ext uri="{FF2B5EF4-FFF2-40B4-BE49-F238E27FC236}">
                <a16:creationId xmlns:a16="http://schemas.microsoft.com/office/drawing/2014/main" id="{90FAD935-1427-D4E1-0CF4-BF42198D241A}"/>
              </a:ext>
            </a:extLst>
          </p:cNvPr>
          <p:cNvSpPr txBox="1"/>
          <p:nvPr/>
        </p:nvSpPr>
        <p:spPr>
          <a:xfrm>
            <a:off x="7401782" y="1021629"/>
            <a:ext cx="4595475" cy="5509160"/>
          </a:xfrm>
          <a:prstGeom prst="rect">
            <a:avLst/>
          </a:prstGeom>
          <a:noFill/>
          <a:ln>
            <a:noFill/>
          </a:ln>
        </p:spPr>
        <p:txBody>
          <a:bodyPr spcFirstLastPara="1" wrap="square" lIns="91425" tIns="45700" rIns="91425" bIns="45700" anchor="t" anchorCtr="0">
            <a:spAutoFit/>
          </a:bodyPr>
          <a:lstStyle/>
          <a:p>
            <a:pPr marL="285750" lvl="0" indent="-285750">
              <a:buClr>
                <a:schemeClr val="dk1"/>
              </a:buClr>
              <a:buSzPts val="1800"/>
              <a:buFont typeface="Arial" panose="020B0604020202020204" pitchFamily="34" charset="0"/>
              <a:buChar char="•"/>
            </a:pPr>
            <a:r>
              <a:rPr lang="en-US" sz="1600" b="1" dirty="0">
                <a:solidFill>
                  <a:schemeClr val="dk1"/>
                </a:solidFill>
                <a:latin typeface="Calibri"/>
                <a:ea typeface="Calibri"/>
                <a:cs typeface="Calibri"/>
                <a:sym typeface="Calibri"/>
              </a:rPr>
              <a:t>Initialize WebDriver:  </a:t>
            </a:r>
            <a:r>
              <a:rPr lang="en-US" sz="1600" dirty="0">
                <a:solidFill>
                  <a:schemeClr val="dk1"/>
                </a:solidFill>
                <a:latin typeface="Calibri"/>
                <a:ea typeface="Calibri"/>
                <a:cs typeface="Calibri"/>
                <a:sym typeface="Calibri"/>
              </a:rPr>
              <a:t>Selenium Chrome WebDriver is launched using </a:t>
            </a:r>
            <a:r>
              <a:rPr lang="en-US" sz="1600" dirty="0" err="1">
                <a:solidFill>
                  <a:schemeClr val="dk1"/>
                </a:solidFill>
                <a:latin typeface="Calibri"/>
                <a:ea typeface="Calibri"/>
                <a:cs typeface="Calibri"/>
                <a:sym typeface="Calibri"/>
              </a:rPr>
              <a:t>ChromeDriverManager</a:t>
            </a:r>
            <a:r>
              <a:rPr lang="en-US" sz="1600" dirty="0">
                <a:solidFill>
                  <a:schemeClr val="dk1"/>
                </a:solidFill>
                <a:latin typeface="Calibri"/>
                <a:ea typeface="Calibri"/>
                <a:cs typeface="Calibri"/>
                <a:sym typeface="Calibri"/>
              </a:rPr>
              <a:t>() to automate the browser.</a:t>
            </a:r>
          </a:p>
          <a:p>
            <a:pPr marL="285750" lvl="0" indent="-285750">
              <a:buClr>
                <a:schemeClr val="dk1"/>
              </a:buClr>
              <a:buSzPts val="1800"/>
              <a:buFont typeface="Arial" panose="020B0604020202020204" pitchFamily="34" charset="0"/>
              <a:buChar char="•"/>
            </a:pPr>
            <a:r>
              <a:rPr lang="en-US" sz="1600" b="1" dirty="0">
                <a:solidFill>
                  <a:schemeClr val="dk1"/>
                </a:solidFill>
                <a:latin typeface="Calibri"/>
                <a:ea typeface="Calibri"/>
                <a:cs typeface="Calibri"/>
                <a:sym typeface="Calibri"/>
              </a:rPr>
              <a:t>Open Target Webpage:  </a:t>
            </a:r>
            <a:r>
              <a:rPr lang="en-US" sz="1600" dirty="0">
                <a:solidFill>
                  <a:schemeClr val="dk1"/>
                </a:solidFill>
                <a:latin typeface="Calibri"/>
                <a:ea typeface="Calibri"/>
                <a:cs typeface="Calibri"/>
                <a:sym typeface="Calibri"/>
              </a:rPr>
              <a:t>The script navigates to the Cars24  Delhi used cars listing page  using the URL.</a:t>
            </a:r>
          </a:p>
          <a:p>
            <a:pPr marL="285750" lvl="0" indent="-285750">
              <a:buClr>
                <a:schemeClr val="dk1"/>
              </a:buClr>
              <a:buSzPts val="1800"/>
              <a:buFont typeface="Arial" panose="020B0604020202020204" pitchFamily="34" charset="0"/>
              <a:buChar char="•"/>
            </a:pPr>
            <a:r>
              <a:rPr lang="en-US" sz="1600" b="1" dirty="0">
                <a:solidFill>
                  <a:schemeClr val="dk1"/>
                </a:solidFill>
                <a:latin typeface="Calibri"/>
                <a:ea typeface="Calibri"/>
                <a:cs typeface="Calibri"/>
                <a:sym typeface="Calibri"/>
              </a:rPr>
              <a:t>Wait for Page Load:  </a:t>
            </a:r>
            <a:r>
              <a:rPr lang="en-US" sz="1600" dirty="0" err="1">
                <a:solidFill>
                  <a:schemeClr val="dk1"/>
                </a:solidFill>
                <a:latin typeface="Calibri"/>
                <a:ea typeface="Calibri"/>
                <a:cs typeface="Calibri"/>
                <a:sym typeface="Calibri"/>
              </a:rPr>
              <a:t>WebDriverWait</a:t>
            </a:r>
            <a:r>
              <a:rPr lang="en-US" sz="1600" dirty="0">
                <a:solidFill>
                  <a:schemeClr val="dk1"/>
                </a:solidFill>
                <a:latin typeface="Calibri"/>
                <a:ea typeface="Calibri"/>
                <a:cs typeface="Calibri"/>
                <a:sym typeface="Calibri"/>
              </a:rPr>
              <a:t> ensures that the required webpage elements load before extracting data.</a:t>
            </a:r>
          </a:p>
          <a:p>
            <a:pPr marL="285750" lvl="0" indent="-285750">
              <a:buClr>
                <a:schemeClr val="dk1"/>
              </a:buClr>
              <a:buSzPts val="1800"/>
              <a:buFont typeface="Arial" panose="020B0604020202020204" pitchFamily="34" charset="0"/>
              <a:buChar char="•"/>
            </a:pPr>
            <a:r>
              <a:rPr lang="en-US" sz="1600" b="1" dirty="0">
                <a:solidFill>
                  <a:schemeClr val="dk1"/>
                </a:solidFill>
                <a:latin typeface="Calibri"/>
                <a:ea typeface="Calibri"/>
                <a:cs typeface="Calibri"/>
                <a:sym typeface="Calibri"/>
              </a:rPr>
              <a:t>Handle Dynamic Content:  </a:t>
            </a:r>
            <a:r>
              <a:rPr lang="en-US" sz="1600" dirty="0">
                <a:solidFill>
                  <a:schemeClr val="dk1"/>
                </a:solidFill>
                <a:latin typeface="Calibri"/>
                <a:ea typeface="Calibri"/>
                <a:cs typeface="Calibri"/>
                <a:sym typeface="Calibri"/>
              </a:rPr>
              <a:t>The script automatically  scrolls the webpage  to load all car listings that appear during infinite scrolling.</a:t>
            </a:r>
          </a:p>
          <a:p>
            <a:pPr marL="285750" lvl="0" indent="-285750">
              <a:buClr>
                <a:schemeClr val="dk1"/>
              </a:buClr>
              <a:buSzPts val="1800"/>
              <a:buFont typeface="Arial" panose="020B0604020202020204" pitchFamily="34" charset="0"/>
              <a:buChar char="•"/>
            </a:pPr>
            <a:r>
              <a:rPr lang="en-US" sz="1600" b="1" dirty="0">
                <a:solidFill>
                  <a:schemeClr val="dk1"/>
                </a:solidFill>
                <a:latin typeface="Calibri"/>
                <a:ea typeface="Calibri"/>
                <a:cs typeface="Calibri"/>
                <a:sym typeface="Calibri"/>
              </a:rPr>
              <a:t>Capture HTML Source:  </a:t>
            </a:r>
            <a:r>
              <a:rPr lang="en-US" sz="1600" dirty="0">
                <a:solidFill>
                  <a:schemeClr val="dk1"/>
                </a:solidFill>
                <a:latin typeface="Calibri"/>
                <a:ea typeface="Calibri"/>
                <a:cs typeface="Calibri"/>
                <a:sym typeface="Calibri"/>
              </a:rPr>
              <a:t>After the page fully loads, the complete  HTML page source  is extracted.</a:t>
            </a:r>
          </a:p>
          <a:p>
            <a:pPr marL="285750" lvl="0" indent="-285750">
              <a:buClr>
                <a:schemeClr val="dk1"/>
              </a:buClr>
              <a:buSzPts val="1800"/>
              <a:buFont typeface="Arial" panose="020B0604020202020204" pitchFamily="34" charset="0"/>
              <a:buChar char="•"/>
            </a:pPr>
            <a:r>
              <a:rPr lang="en-US" sz="1600" b="1" dirty="0">
                <a:solidFill>
                  <a:schemeClr val="dk1"/>
                </a:solidFill>
                <a:latin typeface="Calibri"/>
                <a:ea typeface="Calibri"/>
                <a:cs typeface="Calibri"/>
                <a:sym typeface="Calibri"/>
              </a:rPr>
              <a:t>Save Data:  </a:t>
            </a:r>
            <a:r>
              <a:rPr lang="en-US" sz="1600" dirty="0">
                <a:solidFill>
                  <a:schemeClr val="dk1"/>
                </a:solidFill>
                <a:latin typeface="Calibri"/>
                <a:ea typeface="Calibri"/>
                <a:cs typeface="Calibri"/>
                <a:sym typeface="Calibri"/>
              </a:rPr>
              <a:t>The HTML content is saved as  delhi_cars24.html  for further data extraction and analysis.</a:t>
            </a:r>
          </a:p>
          <a:p>
            <a:pPr marL="285750" lvl="0" indent="-285750">
              <a:buClr>
                <a:schemeClr val="dk1"/>
              </a:buClr>
              <a:buSzPts val="1800"/>
              <a:buFont typeface="Arial" panose="020B0604020202020204" pitchFamily="34" charset="0"/>
              <a:buChar char="•"/>
            </a:pPr>
            <a:r>
              <a:rPr lang="en-US" sz="1600" b="1" dirty="0">
                <a:solidFill>
                  <a:schemeClr val="dk1"/>
                </a:solidFill>
                <a:latin typeface="Calibri"/>
                <a:ea typeface="Calibri"/>
                <a:cs typeface="Calibri"/>
                <a:sym typeface="Calibri"/>
              </a:rPr>
              <a:t>Close Browser:  </a:t>
            </a:r>
            <a:r>
              <a:rPr lang="en-US" sz="1600" dirty="0">
                <a:solidFill>
                  <a:schemeClr val="dk1"/>
                </a:solidFill>
                <a:latin typeface="Calibri"/>
                <a:ea typeface="Calibri"/>
                <a:cs typeface="Calibri"/>
                <a:sym typeface="Calibri"/>
              </a:rPr>
              <a:t>The browser session is closed using </a:t>
            </a:r>
            <a:r>
              <a:rPr lang="en-US" sz="1600" dirty="0" err="1">
                <a:solidFill>
                  <a:schemeClr val="dk1"/>
                </a:solidFill>
                <a:latin typeface="Calibri"/>
                <a:ea typeface="Calibri"/>
                <a:cs typeface="Calibri"/>
                <a:sym typeface="Calibri"/>
              </a:rPr>
              <a:t>driver.quit</a:t>
            </a:r>
            <a:r>
              <a:rPr lang="en-US" sz="1600" dirty="0">
                <a:solidFill>
                  <a:schemeClr val="dk1"/>
                </a:solidFill>
                <a:latin typeface="Calibri"/>
                <a:ea typeface="Calibri"/>
                <a:cs typeface="Calibri"/>
                <a:sym typeface="Calibri"/>
              </a:rPr>
              <a:t>() after completing the scraping process.</a:t>
            </a:r>
          </a:p>
          <a:p>
            <a:pPr marR="0" lvl="0" algn="l" rtl="0">
              <a:spcBef>
                <a:spcPts val="0"/>
              </a:spcBef>
              <a:spcAft>
                <a:spcPts val="0"/>
              </a:spcAft>
              <a:buClr>
                <a:schemeClr val="dk1"/>
              </a:buClr>
              <a:buSzPts val="1800"/>
            </a:pPr>
            <a:endParaRPr sz="1600" dirty="0">
              <a:solidFill>
                <a:schemeClr val="dk1"/>
              </a:solidFill>
              <a:latin typeface="Calibri"/>
              <a:ea typeface="Calibri"/>
              <a:cs typeface="Calibri"/>
              <a:sym typeface="Calibri"/>
            </a:endParaRPr>
          </a:p>
        </p:txBody>
      </p:sp>
      <p:sp>
        <p:nvSpPr>
          <p:cNvPr id="105" name="Google Shape;105;p3">
            <a:extLst>
              <a:ext uri="{FF2B5EF4-FFF2-40B4-BE49-F238E27FC236}">
                <a16:creationId xmlns:a16="http://schemas.microsoft.com/office/drawing/2014/main" id="{E37F8948-F121-D75D-DDB7-ACD38F4C8D9E}"/>
              </a:ext>
            </a:extLst>
          </p:cNvPr>
          <p:cNvSpPr txBox="1"/>
          <p:nvPr/>
        </p:nvSpPr>
        <p:spPr>
          <a:xfrm>
            <a:off x="427656" y="416554"/>
            <a:ext cx="8914752" cy="486247"/>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Lato Black"/>
                <a:ea typeface="Lato Black"/>
                <a:cs typeface="Lato Black"/>
                <a:sym typeface="Lato Black"/>
              </a:rPr>
              <a:t>SELENIUM WEBDRIVER WITH PYTHON </a:t>
            </a:r>
            <a:endParaRPr sz="1800" b="0" i="0" u="none" strike="noStrike" cap="none" dirty="0">
              <a:solidFill>
                <a:srgbClr val="FF0000"/>
              </a:solidFill>
              <a:latin typeface="Calibri"/>
              <a:ea typeface="Calibri"/>
              <a:cs typeface="Calibri"/>
              <a:sym typeface="Calibri"/>
            </a:endParaRPr>
          </a:p>
        </p:txBody>
      </p:sp>
      <p:pic>
        <p:nvPicPr>
          <p:cNvPr id="3" name="Picture 2" descr="The image shows a Selenium script being used to scrape the Delhi page of used cars from Cars24.com, saving the page's HTML content to a file.&#10;&#10;AI-generated content may be incorrect.">
            <a:extLst>
              <a:ext uri="{FF2B5EF4-FFF2-40B4-BE49-F238E27FC236}">
                <a16:creationId xmlns:a16="http://schemas.microsoft.com/office/drawing/2014/main" id="{59473B4D-D0A4-15C9-5D21-AE8A9962494F}"/>
              </a:ext>
            </a:extLst>
          </p:cNvPr>
          <p:cNvPicPr>
            <a:picLocks noChangeAspect="1"/>
          </p:cNvPicPr>
          <p:nvPr/>
        </p:nvPicPr>
        <p:blipFill>
          <a:blip r:embed="rId3"/>
          <a:srcRect r="12909"/>
          <a:stretch>
            <a:fillRect/>
          </a:stretch>
        </p:blipFill>
        <p:spPr>
          <a:xfrm>
            <a:off x="194743" y="1041854"/>
            <a:ext cx="7207039" cy="5528987"/>
          </a:xfrm>
          <a:prstGeom prst="rect">
            <a:avLst/>
          </a:prstGeom>
        </p:spPr>
      </p:pic>
    </p:spTree>
    <p:extLst>
      <p:ext uri="{BB962C8B-B14F-4D97-AF65-F5344CB8AC3E}">
        <p14:creationId xmlns:p14="http://schemas.microsoft.com/office/powerpoint/2010/main" val="3209416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1EE4799-A54B-7156-4983-F89AD5A2B344}"/>
            </a:ext>
          </a:extLst>
        </p:cNvPr>
        <p:cNvGrpSpPr/>
        <p:nvPr/>
      </p:nvGrpSpPr>
      <p:grpSpPr>
        <a:xfrm>
          <a:off x="0" y="0"/>
          <a:ext cx="0" cy="0"/>
          <a:chOff x="0" y="0"/>
          <a:chExt cx="0" cy="0"/>
        </a:xfrm>
      </p:grpSpPr>
      <p:sp>
        <p:nvSpPr>
          <p:cNvPr id="104" name="Google Shape;104;p3">
            <a:extLst>
              <a:ext uri="{FF2B5EF4-FFF2-40B4-BE49-F238E27FC236}">
                <a16:creationId xmlns:a16="http://schemas.microsoft.com/office/drawing/2014/main" id="{5A4DDC01-79FD-AABC-E828-F8CCDDB90B21}"/>
              </a:ext>
            </a:extLst>
          </p:cNvPr>
          <p:cNvSpPr txBox="1"/>
          <p:nvPr/>
        </p:nvSpPr>
        <p:spPr>
          <a:xfrm>
            <a:off x="6249378" y="1198504"/>
            <a:ext cx="5733241" cy="5078273"/>
          </a:xfrm>
          <a:prstGeom prst="rect">
            <a:avLst/>
          </a:prstGeom>
          <a:noFill/>
          <a:ln>
            <a:noFill/>
          </a:ln>
        </p:spPr>
        <p:txBody>
          <a:bodyPr spcFirstLastPara="1" wrap="square" lIns="91425" tIns="45700" rIns="91425" bIns="45700" anchor="t" anchorCtr="0">
            <a:spAutoFit/>
          </a:bodyPr>
          <a:lstStyle/>
          <a:p>
            <a:pPr marL="285750" lvl="0" indent="-285750">
              <a:buClr>
                <a:schemeClr val="dk1"/>
              </a:buClr>
              <a:buSzPts val="1800"/>
              <a:buFont typeface="Arial" panose="020B0604020202020204" pitchFamily="34" charset="0"/>
              <a:buChar char="•"/>
            </a:pPr>
            <a:r>
              <a:rPr lang="en-US" sz="1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A function scrape_cars24_lists() is created to extract car details from the saved HTML file.</a:t>
            </a:r>
          </a:p>
          <a:p>
            <a:pPr marL="285750" lvl="0" indent="-285750">
              <a:buClr>
                <a:schemeClr val="dk1"/>
              </a:buClr>
              <a:buSzPts val="1800"/>
              <a:buFont typeface="Arial" panose="020B0604020202020204" pitchFamily="34" charset="0"/>
              <a:buChar char="•"/>
            </a:pPr>
            <a:r>
              <a:rPr lang="en-US" sz="1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The   file name is used to identify the city/location   of the car listings.</a:t>
            </a:r>
          </a:p>
          <a:p>
            <a:pPr marL="285750" lvl="0" indent="-285750">
              <a:buClr>
                <a:schemeClr val="dk1"/>
              </a:buClr>
              <a:buSzPts val="1800"/>
              <a:buFont typeface="Arial" panose="020B0604020202020204" pitchFamily="34" charset="0"/>
              <a:buChar char="•"/>
            </a:pPr>
            <a:r>
              <a:rPr lang="en-US" sz="1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Empty lists are created to store data such as   car name, price, kilometers driven, fuel type, transmission, and status.</a:t>
            </a:r>
          </a:p>
          <a:p>
            <a:pPr marL="285750" lvl="0" indent="-285750">
              <a:buClr>
                <a:schemeClr val="dk1"/>
              </a:buClr>
              <a:buSzPts val="1800"/>
              <a:buFont typeface="Arial" panose="020B0604020202020204" pitchFamily="34" charset="0"/>
              <a:buChar char="•"/>
            </a:pPr>
            <a:endParaRPr lang="en-US" sz="1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lvl="0" indent="-285750">
              <a:buClr>
                <a:schemeClr val="dk1"/>
              </a:buClr>
              <a:buSzPts val="1800"/>
              <a:buFont typeface="Arial" panose="020B0604020202020204" pitchFamily="34" charset="0"/>
              <a:buChar char="•"/>
            </a:pPr>
            <a:r>
              <a:rPr lang="en-US" sz="1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The HTML file is opened and parsed using </a:t>
            </a:r>
            <a:r>
              <a:rPr lang="en-US" sz="1800" dirty="0" err="1">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BeautifulSoup</a:t>
            </a:r>
            <a:r>
              <a:rPr lang="en-US" sz="1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 </a:t>
            </a:r>
          </a:p>
          <a:p>
            <a:pPr lvl="0">
              <a:buClr>
                <a:schemeClr val="dk1"/>
              </a:buClr>
              <a:buSzPts val="1800"/>
            </a:pPr>
            <a:endParaRPr lang="en-US" sz="1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lvl="0" indent="-285750">
              <a:buClr>
                <a:schemeClr val="dk1"/>
              </a:buClr>
              <a:buSzPts val="1800"/>
              <a:buFont typeface="Arial" panose="020B0604020202020204" pitchFamily="34" charset="0"/>
              <a:buChar char="•"/>
            </a:pPr>
            <a:r>
              <a:rPr lang="en-US" sz="1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The script finds all   car listing cards   using their HTML class.</a:t>
            </a:r>
          </a:p>
          <a:p>
            <a:pPr marL="285750" lvl="0" indent="-285750">
              <a:buClr>
                <a:schemeClr val="dk1"/>
              </a:buClr>
              <a:buSzPts val="1800"/>
              <a:buFont typeface="Arial" panose="020B0604020202020204" pitchFamily="34" charset="0"/>
              <a:buChar char="•"/>
            </a:pPr>
            <a:endParaRPr lang="en-US" sz="1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lvl="0" indent="-285750">
              <a:buClr>
                <a:schemeClr val="dk1"/>
              </a:buClr>
              <a:buSzPts val="1800"/>
              <a:buFont typeface="Arial" panose="020B0604020202020204" pitchFamily="34" charset="0"/>
              <a:buChar char="•"/>
            </a:pPr>
            <a:r>
              <a:rPr lang="en-US" sz="1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A loop extracts details like   car name and price   from each listing.</a:t>
            </a:r>
          </a:p>
          <a:p>
            <a:pPr marL="285750" lvl="0" indent="-285750">
              <a:buClr>
                <a:schemeClr val="dk1"/>
              </a:buClr>
              <a:buSzPts val="1800"/>
              <a:buFont typeface="Arial" panose="020B0604020202020204" pitchFamily="34" charset="0"/>
              <a:buChar char="•"/>
            </a:pPr>
            <a:r>
              <a:rPr lang="en-US" sz="1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The extracted values are stored in lists to build a   structured dataset for analysis.</a:t>
            </a:r>
          </a:p>
          <a:p>
            <a:pPr lvl="0">
              <a:buClr>
                <a:schemeClr val="dk1"/>
              </a:buClr>
              <a:buSzPts val="1800"/>
            </a:pPr>
            <a:endParaRPr sz="1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5" name="Google Shape;105;p3">
            <a:extLst>
              <a:ext uri="{FF2B5EF4-FFF2-40B4-BE49-F238E27FC236}">
                <a16:creationId xmlns:a16="http://schemas.microsoft.com/office/drawing/2014/main" id="{A0F8DD50-DD5A-1D39-EDDB-1172B8EA6DBD}"/>
              </a:ext>
            </a:extLst>
          </p:cNvPr>
          <p:cNvSpPr txBox="1"/>
          <p:nvPr/>
        </p:nvSpPr>
        <p:spPr>
          <a:xfrm>
            <a:off x="427656" y="416554"/>
            <a:ext cx="11308542" cy="486247"/>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Lato Black"/>
                <a:ea typeface="Lato Black"/>
                <a:cs typeface="Lato Black"/>
                <a:sym typeface="Lato Black"/>
              </a:rPr>
              <a:t>EXTRACTING THE FEATURES FROM SAVED HTML FILES</a:t>
            </a:r>
            <a:endParaRPr sz="1800" b="0" i="0" u="none" strike="noStrike" cap="none" dirty="0">
              <a:solidFill>
                <a:srgbClr val="FF0000"/>
              </a:solidFill>
              <a:latin typeface="Calibri"/>
              <a:ea typeface="Calibri"/>
              <a:cs typeface="Calibri"/>
              <a:sym typeface="Calibri"/>
            </a:endParaRPr>
          </a:p>
        </p:txBody>
      </p:sp>
      <p:pic>
        <p:nvPicPr>
          <p:cNvPr id="3" name="Picture 2" descr="The provided text is a snippet of Python code, which is a function definition for scraping car listing information from a webpage. The function, `scrape_cars24_lists`, takes a file path as input, reads an HTML file, and extracts car listing data such as names, locations, prices, and other attributes from a specified class of elements in the document.&#10;&#10;AI-generated content may be incorrect.">
            <a:extLst>
              <a:ext uri="{FF2B5EF4-FFF2-40B4-BE49-F238E27FC236}">
                <a16:creationId xmlns:a16="http://schemas.microsoft.com/office/drawing/2014/main" id="{66F0B4DC-4E65-97DE-9AAE-428C9392A2BD}"/>
              </a:ext>
            </a:extLst>
          </p:cNvPr>
          <p:cNvPicPr>
            <a:picLocks noChangeAspect="1"/>
          </p:cNvPicPr>
          <p:nvPr/>
        </p:nvPicPr>
        <p:blipFill>
          <a:blip r:embed="rId3"/>
          <a:stretch>
            <a:fillRect/>
          </a:stretch>
        </p:blipFill>
        <p:spPr>
          <a:xfrm>
            <a:off x="209381" y="912459"/>
            <a:ext cx="5972888" cy="5672899"/>
          </a:xfrm>
          <a:prstGeom prst="rect">
            <a:avLst/>
          </a:prstGeom>
        </p:spPr>
      </p:pic>
    </p:spTree>
    <p:extLst>
      <p:ext uri="{BB962C8B-B14F-4D97-AF65-F5344CB8AC3E}">
        <p14:creationId xmlns:p14="http://schemas.microsoft.com/office/powerpoint/2010/main" val="3002210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7CE20DBB-9BD8-9941-BB89-51241F814FC1}"/>
            </a:ext>
          </a:extLst>
        </p:cNvPr>
        <p:cNvGrpSpPr/>
        <p:nvPr/>
      </p:nvGrpSpPr>
      <p:grpSpPr>
        <a:xfrm>
          <a:off x="0" y="0"/>
          <a:ext cx="0" cy="0"/>
          <a:chOff x="0" y="0"/>
          <a:chExt cx="0" cy="0"/>
        </a:xfrm>
      </p:grpSpPr>
      <p:sp>
        <p:nvSpPr>
          <p:cNvPr id="104" name="Google Shape;104;p3">
            <a:extLst>
              <a:ext uri="{FF2B5EF4-FFF2-40B4-BE49-F238E27FC236}">
                <a16:creationId xmlns:a16="http://schemas.microsoft.com/office/drawing/2014/main" id="{EA7389CC-1661-2D72-F8C3-62A615553C62}"/>
              </a:ext>
            </a:extLst>
          </p:cNvPr>
          <p:cNvSpPr txBox="1"/>
          <p:nvPr/>
        </p:nvSpPr>
        <p:spPr>
          <a:xfrm>
            <a:off x="201336" y="973305"/>
            <a:ext cx="4639112" cy="5509160"/>
          </a:xfrm>
          <a:prstGeom prst="rect">
            <a:avLst/>
          </a:prstGeom>
          <a:noFill/>
          <a:ln>
            <a:noFill/>
          </a:ln>
        </p:spPr>
        <p:txBody>
          <a:bodyPr spcFirstLastPara="1" wrap="square" lIns="91425" tIns="45700" rIns="91425" bIns="45700" anchor="t" anchorCtr="0">
            <a:spAutoFit/>
          </a:bodyPr>
          <a:lstStyle/>
          <a:p>
            <a:pPr marL="285750" lvl="0" indent="-285750">
              <a:buClr>
                <a:schemeClr val="dk1"/>
              </a:buClr>
              <a:buSzPts val="1800"/>
              <a:buFont typeface="Arial" panose="020B0604020202020204" pitchFamily="34" charset="0"/>
              <a:buChar char="•"/>
            </a:pPr>
            <a:r>
              <a:rPr lang="en-US" sz="16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Extracted car details are organized into a Pandas </a:t>
            </a:r>
            <a:r>
              <a:rPr lang="en-US" sz="1600" dirty="0" err="1">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DataFrame</a:t>
            </a:r>
            <a:r>
              <a:rPr lang="en-US" sz="16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 with columns such as Name, Variant, </a:t>
            </a:r>
            <a:r>
              <a:rPr lang="en-US" sz="1600" dirty="0" err="1">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Driven_Kms</a:t>
            </a:r>
            <a:r>
              <a:rPr lang="en-US" sz="16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 </a:t>
            </a:r>
            <a:r>
              <a:rPr lang="en-US" sz="1600" dirty="0" err="1">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Engine_Type</a:t>
            </a:r>
            <a:r>
              <a:rPr lang="en-US" sz="16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 Transmission, Number, Location, Status, Price, and EMI per Month.</a:t>
            </a:r>
          </a:p>
          <a:p>
            <a:pPr lvl="0">
              <a:buClr>
                <a:schemeClr val="dk1"/>
              </a:buClr>
              <a:buSzPts val="1800"/>
            </a:pPr>
            <a:endParaRPr lang="en-US" sz="16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lvl="0" indent="-285750">
              <a:buClr>
                <a:schemeClr val="dk1"/>
              </a:buClr>
              <a:buSzPts val="1800"/>
              <a:buFont typeface="Arial" panose="020B0604020202020204" pitchFamily="34" charset="0"/>
              <a:buChar char="•"/>
            </a:pPr>
            <a:r>
              <a:rPr lang="en-US" sz="16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Data collected from multiple cities is combined into a single structured dataset.</a:t>
            </a:r>
          </a:p>
          <a:p>
            <a:pPr lvl="0">
              <a:buClr>
                <a:schemeClr val="dk1"/>
              </a:buClr>
              <a:buSzPts val="1800"/>
            </a:pPr>
            <a:endParaRPr lang="en-US" sz="16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lvl="0" indent="-285750">
              <a:buClr>
                <a:schemeClr val="dk1"/>
              </a:buClr>
              <a:buSzPts val="1800"/>
              <a:buFont typeface="Arial" panose="020B0604020202020204" pitchFamily="34" charset="0"/>
              <a:buChar char="•"/>
            </a:pPr>
            <a:r>
              <a:rPr lang="en-US" sz="16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The structured dataset is then exported to a CSV file (Cars24_India.csv) for storage.</a:t>
            </a:r>
          </a:p>
          <a:p>
            <a:pPr lvl="0">
              <a:buClr>
                <a:schemeClr val="dk1"/>
              </a:buClr>
              <a:buSzPts val="1800"/>
            </a:pPr>
            <a:endParaRPr lang="en-US" sz="16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lvl="0" indent="-285750">
              <a:buClr>
                <a:schemeClr val="dk1"/>
              </a:buClr>
              <a:buSzPts val="1800"/>
              <a:buFont typeface="Arial" panose="020B0604020202020204" pitchFamily="34" charset="0"/>
              <a:buChar char="•"/>
            </a:pPr>
            <a:r>
              <a:rPr lang="en-US" sz="16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The CSV file is later loaded back into Pandas for further analysis.</a:t>
            </a:r>
          </a:p>
          <a:p>
            <a:pPr lvl="0">
              <a:buClr>
                <a:schemeClr val="dk1"/>
              </a:buClr>
              <a:buSzPts val="1800"/>
            </a:pPr>
            <a:endParaRPr lang="en-US" sz="16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lvl="0" indent="-285750">
              <a:buClr>
                <a:schemeClr val="dk1"/>
              </a:buClr>
              <a:buSzPts val="1800"/>
              <a:buFont typeface="Arial" panose="020B0604020202020204" pitchFamily="34" charset="0"/>
              <a:buChar char="•"/>
            </a:pPr>
            <a:r>
              <a:rPr lang="en-US" sz="16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The dataset preview is checked using </a:t>
            </a:r>
            <a:r>
              <a:rPr lang="en-US" sz="1600" dirty="0" err="1">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data.head</a:t>
            </a:r>
            <a:r>
              <a:rPr lang="en-US" sz="16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 to verify that the scraped data is correctly stored.</a:t>
            </a:r>
          </a:p>
          <a:p>
            <a:pPr lvl="0">
              <a:buClr>
                <a:schemeClr val="dk1"/>
              </a:buClr>
              <a:buSzPts val="1800"/>
            </a:pPr>
            <a:endParaRPr lang="en-US" sz="16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lvl="0" indent="-285750">
              <a:buClr>
                <a:schemeClr val="dk1"/>
              </a:buClr>
              <a:buSzPts val="1800"/>
              <a:buFont typeface="Arial" panose="020B0604020202020204" pitchFamily="34" charset="0"/>
              <a:buChar char="•"/>
            </a:pPr>
            <a:r>
              <a:rPr lang="en-US" sz="16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This structured dataset enables easy data cleaning and preprocessing.</a:t>
            </a:r>
          </a:p>
          <a:p>
            <a:pPr lvl="0">
              <a:buClr>
                <a:schemeClr val="dk1"/>
              </a:buClr>
              <a:buSzPts val="1800"/>
            </a:pPr>
            <a:endParaRPr lang="en-US" sz="16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lvl="0" indent="-285750">
              <a:buClr>
                <a:schemeClr val="dk1"/>
              </a:buClr>
              <a:buSzPts val="1800"/>
              <a:buFont typeface="Arial" panose="020B0604020202020204" pitchFamily="34" charset="0"/>
              <a:buChar char="•"/>
            </a:pPr>
            <a:r>
              <a:rPr lang="en-US" sz="16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The dataset is then used for area-wise and brand-wise analysis of the used car market.</a:t>
            </a:r>
            <a:endParaRPr sz="16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5" name="Google Shape;105;p3">
            <a:extLst>
              <a:ext uri="{FF2B5EF4-FFF2-40B4-BE49-F238E27FC236}">
                <a16:creationId xmlns:a16="http://schemas.microsoft.com/office/drawing/2014/main" id="{FC498BEE-ABEB-281A-DE23-041BF9808F6B}"/>
              </a:ext>
            </a:extLst>
          </p:cNvPr>
          <p:cNvSpPr txBox="1"/>
          <p:nvPr/>
        </p:nvSpPr>
        <p:spPr>
          <a:xfrm>
            <a:off x="427656" y="416554"/>
            <a:ext cx="6099463" cy="49590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Lato Black"/>
                <a:ea typeface="Lato Black"/>
                <a:cs typeface="Lato Black"/>
                <a:sym typeface="Lato Black"/>
              </a:rPr>
              <a:t>DATA COLLECTED</a:t>
            </a:r>
            <a:endParaRPr sz="1800" b="0" i="0" u="none" strike="noStrike" cap="none" dirty="0">
              <a:solidFill>
                <a:srgbClr val="FF0000"/>
              </a:solidFill>
              <a:latin typeface="Calibri"/>
              <a:ea typeface="Calibri"/>
              <a:cs typeface="Calibri"/>
              <a:sym typeface="Calibri"/>
            </a:endParaRPr>
          </a:p>
        </p:txBody>
      </p:sp>
      <p:pic>
        <p:nvPicPr>
          <p:cNvPr id="3" name="Picture 2" descr="The image shows a table or DataFrame displaying various car details such as model, variant, mileage, engine type, transmission, and pricing information.&#10;&#10;AI-generated content may be incorrect.">
            <a:extLst>
              <a:ext uri="{FF2B5EF4-FFF2-40B4-BE49-F238E27FC236}">
                <a16:creationId xmlns:a16="http://schemas.microsoft.com/office/drawing/2014/main" id="{922BEB40-1C24-4185-F635-63EEA608348F}"/>
              </a:ext>
            </a:extLst>
          </p:cNvPr>
          <p:cNvPicPr>
            <a:picLocks noChangeAspect="1"/>
          </p:cNvPicPr>
          <p:nvPr/>
        </p:nvPicPr>
        <p:blipFill>
          <a:blip r:embed="rId3"/>
          <a:srcRect l="3652" r="7113"/>
          <a:stretch>
            <a:fillRect/>
          </a:stretch>
        </p:blipFill>
        <p:spPr>
          <a:xfrm>
            <a:off x="4840448" y="778235"/>
            <a:ext cx="7281644" cy="3965502"/>
          </a:xfrm>
          <a:prstGeom prst="rect">
            <a:avLst/>
          </a:prstGeom>
        </p:spPr>
      </p:pic>
    </p:spTree>
    <p:extLst>
      <p:ext uri="{BB962C8B-B14F-4D97-AF65-F5344CB8AC3E}">
        <p14:creationId xmlns:p14="http://schemas.microsoft.com/office/powerpoint/2010/main" val="3127996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3AD191C-41CC-2916-179A-BF98BB4C4838}"/>
            </a:ext>
          </a:extLst>
        </p:cNvPr>
        <p:cNvGrpSpPr/>
        <p:nvPr/>
      </p:nvGrpSpPr>
      <p:grpSpPr>
        <a:xfrm>
          <a:off x="0" y="0"/>
          <a:ext cx="0" cy="0"/>
          <a:chOff x="0" y="0"/>
          <a:chExt cx="0" cy="0"/>
        </a:xfrm>
      </p:grpSpPr>
      <p:sp>
        <p:nvSpPr>
          <p:cNvPr id="104" name="Google Shape;104;p3">
            <a:extLst>
              <a:ext uri="{FF2B5EF4-FFF2-40B4-BE49-F238E27FC236}">
                <a16:creationId xmlns:a16="http://schemas.microsoft.com/office/drawing/2014/main" id="{C699480E-FAD5-EEC1-92DA-4E8DBE0BA72F}"/>
              </a:ext>
            </a:extLst>
          </p:cNvPr>
          <p:cNvSpPr txBox="1"/>
          <p:nvPr/>
        </p:nvSpPr>
        <p:spPr>
          <a:xfrm>
            <a:off x="217695" y="902801"/>
            <a:ext cx="4908485" cy="6001603"/>
          </a:xfrm>
          <a:prstGeom prst="rect">
            <a:avLst/>
          </a:prstGeom>
          <a:noFill/>
          <a:ln>
            <a:noFill/>
          </a:ln>
        </p:spPr>
        <p:txBody>
          <a:bodyPr spcFirstLastPara="1" wrap="square" lIns="91425" tIns="45700" rIns="91425" bIns="45700" anchor="t" anchorCtr="0">
            <a:spAutoFit/>
          </a:bodyPr>
          <a:lstStyle/>
          <a:p>
            <a:pPr marL="285750" lvl="0" indent="-285750">
              <a:buClr>
                <a:schemeClr val="dk1"/>
              </a:buClr>
              <a:buSzPts val="1800"/>
              <a:buFont typeface="Arial" panose="020B0604020202020204" pitchFamily="34" charset="0"/>
              <a:buChar char="•"/>
            </a:pPr>
            <a:r>
              <a:rPr lang="en-US" sz="1600" b="1" dirty="0">
                <a:solidFill>
                  <a:schemeClr val="dk1"/>
                </a:solidFill>
                <a:latin typeface="Calibri"/>
                <a:ea typeface="Calibri"/>
                <a:cs typeface="Calibri"/>
                <a:sym typeface="Calibri"/>
              </a:rPr>
              <a:t>Extract Year, Brand, and Model:</a:t>
            </a:r>
            <a:r>
              <a:rPr lang="en-US" sz="1600" dirty="0">
                <a:solidFill>
                  <a:schemeClr val="dk1"/>
                </a:solidFill>
                <a:latin typeface="Calibri"/>
                <a:ea typeface="Calibri"/>
                <a:cs typeface="Calibri"/>
                <a:sym typeface="Calibri"/>
              </a:rPr>
              <a:t> Regular expressions were used to split the Name column into separate columns for Year, Brand, and Model.</a:t>
            </a:r>
          </a:p>
          <a:p>
            <a:pPr marL="285750" lvl="0" indent="-285750">
              <a:buClr>
                <a:schemeClr val="dk1"/>
              </a:buClr>
              <a:buSzPts val="1800"/>
              <a:buFont typeface="Arial" panose="020B0604020202020204" pitchFamily="34" charset="0"/>
              <a:buChar char="•"/>
            </a:pPr>
            <a:endParaRPr lang="en-US" sz="1600" dirty="0">
              <a:solidFill>
                <a:schemeClr val="dk1"/>
              </a:solidFill>
              <a:latin typeface="Calibri"/>
              <a:ea typeface="Calibri"/>
              <a:cs typeface="Calibri"/>
              <a:sym typeface="Calibri"/>
            </a:endParaRPr>
          </a:p>
          <a:p>
            <a:pPr marL="285750" lvl="0" indent="-285750">
              <a:buClr>
                <a:schemeClr val="dk1"/>
              </a:buClr>
              <a:buSzPts val="1800"/>
              <a:buFont typeface="Arial" panose="020B0604020202020204" pitchFamily="34" charset="0"/>
              <a:buChar char="•"/>
            </a:pPr>
            <a:r>
              <a:rPr lang="en-US" sz="1600" b="1" dirty="0">
                <a:solidFill>
                  <a:schemeClr val="dk1"/>
                </a:solidFill>
                <a:latin typeface="Calibri"/>
                <a:ea typeface="Calibri"/>
                <a:cs typeface="Calibri"/>
                <a:sym typeface="Calibri"/>
              </a:rPr>
              <a:t>Clean EMI Column:</a:t>
            </a:r>
            <a:r>
              <a:rPr lang="en-US" sz="1600" dirty="0">
                <a:solidFill>
                  <a:schemeClr val="dk1"/>
                </a:solidFill>
                <a:latin typeface="Calibri"/>
                <a:ea typeface="Calibri"/>
                <a:cs typeface="Calibri"/>
                <a:sym typeface="Calibri"/>
              </a:rPr>
              <a:t> Unwanted symbols such as ₹, commas, and text were removed from the </a:t>
            </a:r>
            <a:r>
              <a:rPr lang="en-US" sz="1600" dirty="0" err="1">
                <a:solidFill>
                  <a:schemeClr val="dk1"/>
                </a:solidFill>
                <a:latin typeface="Calibri"/>
                <a:ea typeface="Calibri"/>
                <a:cs typeface="Calibri"/>
                <a:sym typeface="Calibri"/>
              </a:rPr>
              <a:t>EMI_per_Month</a:t>
            </a:r>
            <a:r>
              <a:rPr lang="en-US" sz="1600" dirty="0">
                <a:solidFill>
                  <a:schemeClr val="dk1"/>
                </a:solidFill>
                <a:latin typeface="Calibri"/>
                <a:ea typeface="Calibri"/>
                <a:cs typeface="Calibri"/>
                <a:sym typeface="Calibri"/>
              </a:rPr>
              <a:t> column to keep only numeric values.</a:t>
            </a:r>
          </a:p>
          <a:p>
            <a:pPr marL="285750" lvl="0" indent="-285750">
              <a:buClr>
                <a:schemeClr val="dk1"/>
              </a:buClr>
              <a:buSzPts val="1800"/>
              <a:buFont typeface="Arial" panose="020B0604020202020204" pitchFamily="34" charset="0"/>
              <a:buChar char="•"/>
            </a:pPr>
            <a:endParaRPr lang="en-US" sz="1600" dirty="0">
              <a:solidFill>
                <a:schemeClr val="dk1"/>
              </a:solidFill>
              <a:latin typeface="Calibri"/>
              <a:ea typeface="Calibri"/>
              <a:cs typeface="Calibri"/>
              <a:sym typeface="Calibri"/>
            </a:endParaRPr>
          </a:p>
          <a:p>
            <a:pPr marL="285750" lvl="0" indent="-285750">
              <a:buClr>
                <a:schemeClr val="dk1"/>
              </a:buClr>
              <a:buSzPts val="1800"/>
              <a:buFont typeface="Arial" panose="020B0604020202020204" pitchFamily="34" charset="0"/>
              <a:buChar char="•"/>
            </a:pPr>
            <a:r>
              <a:rPr lang="en-US" sz="1600" b="1" dirty="0">
                <a:solidFill>
                  <a:schemeClr val="dk1"/>
                </a:solidFill>
                <a:latin typeface="Calibri"/>
                <a:ea typeface="Calibri"/>
                <a:cs typeface="Calibri"/>
                <a:sym typeface="Calibri"/>
              </a:rPr>
              <a:t>Extract Price Values:</a:t>
            </a:r>
            <a:r>
              <a:rPr lang="en-US" sz="1600" dirty="0">
                <a:solidFill>
                  <a:schemeClr val="dk1"/>
                </a:solidFill>
                <a:latin typeface="Calibri"/>
                <a:ea typeface="Calibri"/>
                <a:cs typeface="Calibri"/>
                <a:sym typeface="Calibri"/>
              </a:rPr>
              <a:t> The numerical part of the Price(</a:t>
            </a:r>
            <a:r>
              <a:rPr lang="en-US" sz="1600" dirty="0" err="1">
                <a:solidFill>
                  <a:schemeClr val="dk1"/>
                </a:solidFill>
                <a:latin typeface="Calibri"/>
                <a:ea typeface="Calibri"/>
                <a:cs typeface="Calibri"/>
                <a:sym typeface="Calibri"/>
              </a:rPr>
              <a:t>In_Lakhs</a:t>
            </a:r>
            <a:r>
              <a:rPr lang="en-US" sz="1600" dirty="0">
                <a:solidFill>
                  <a:schemeClr val="dk1"/>
                </a:solidFill>
                <a:latin typeface="Calibri"/>
                <a:ea typeface="Calibri"/>
                <a:cs typeface="Calibri"/>
                <a:sym typeface="Calibri"/>
              </a:rPr>
              <a:t>) column was extracted to remove extra text like “lakh”.</a:t>
            </a:r>
          </a:p>
          <a:p>
            <a:pPr marL="285750" lvl="0" indent="-285750">
              <a:buClr>
                <a:schemeClr val="dk1"/>
              </a:buClr>
              <a:buSzPts val="1800"/>
              <a:buFont typeface="Arial" panose="020B0604020202020204" pitchFamily="34" charset="0"/>
              <a:buChar char="•"/>
            </a:pPr>
            <a:endParaRPr lang="en-US" sz="1600" dirty="0">
              <a:solidFill>
                <a:schemeClr val="dk1"/>
              </a:solidFill>
              <a:latin typeface="Calibri"/>
              <a:ea typeface="Calibri"/>
              <a:cs typeface="Calibri"/>
              <a:sym typeface="Calibri"/>
            </a:endParaRPr>
          </a:p>
          <a:p>
            <a:pPr marL="285750" lvl="0" indent="-285750">
              <a:buClr>
                <a:schemeClr val="dk1"/>
              </a:buClr>
              <a:buSzPts val="1800"/>
              <a:buFont typeface="Arial" panose="020B0604020202020204" pitchFamily="34" charset="0"/>
              <a:buChar char="•"/>
            </a:pPr>
            <a:r>
              <a:rPr lang="en-US" sz="1600" b="1" dirty="0">
                <a:solidFill>
                  <a:schemeClr val="dk1"/>
                </a:solidFill>
                <a:latin typeface="Calibri"/>
                <a:ea typeface="Calibri"/>
                <a:cs typeface="Calibri"/>
                <a:sym typeface="Calibri"/>
              </a:rPr>
              <a:t>Clean </a:t>
            </a:r>
            <a:r>
              <a:rPr lang="en-US" sz="1600" b="1" dirty="0" err="1">
                <a:solidFill>
                  <a:schemeClr val="dk1"/>
                </a:solidFill>
                <a:latin typeface="Calibri"/>
                <a:ea typeface="Calibri"/>
                <a:cs typeface="Calibri"/>
                <a:sym typeface="Calibri"/>
              </a:rPr>
              <a:t>Driven_Kms</a:t>
            </a:r>
            <a:r>
              <a:rPr lang="en-US" sz="1600" b="1" dirty="0">
                <a:solidFill>
                  <a:schemeClr val="dk1"/>
                </a:solidFill>
                <a:latin typeface="Calibri"/>
                <a:ea typeface="Calibri"/>
                <a:cs typeface="Calibri"/>
                <a:sym typeface="Calibri"/>
              </a:rPr>
              <a:t> Column:</a:t>
            </a:r>
            <a:r>
              <a:rPr lang="en-US" sz="1600" dirty="0">
                <a:solidFill>
                  <a:schemeClr val="dk1"/>
                </a:solidFill>
                <a:latin typeface="Calibri"/>
                <a:ea typeface="Calibri"/>
                <a:cs typeface="Calibri"/>
                <a:sym typeface="Calibri"/>
              </a:rPr>
              <a:t> Non-numeric characters such as “km” and commas were removed from the </a:t>
            </a:r>
            <a:r>
              <a:rPr lang="en-US" sz="1600" dirty="0" err="1">
                <a:solidFill>
                  <a:schemeClr val="dk1"/>
                </a:solidFill>
                <a:latin typeface="Calibri"/>
                <a:ea typeface="Calibri"/>
                <a:cs typeface="Calibri"/>
                <a:sym typeface="Calibri"/>
              </a:rPr>
              <a:t>Driven_Kms</a:t>
            </a:r>
            <a:r>
              <a:rPr lang="en-US" sz="1600" dirty="0">
                <a:solidFill>
                  <a:schemeClr val="dk1"/>
                </a:solidFill>
                <a:latin typeface="Calibri"/>
                <a:ea typeface="Calibri"/>
                <a:cs typeface="Calibri"/>
                <a:sym typeface="Calibri"/>
              </a:rPr>
              <a:t> column.</a:t>
            </a:r>
          </a:p>
          <a:p>
            <a:pPr marL="285750" lvl="0" indent="-285750">
              <a:buClr>
                <a:schemeClr val="dk1"/>
              </a:buClr>
              <a:buSzPts val="1800"/>
              <a:buFont typeface="Arial" panose="020B0604020202020204" pitchFamily="34" charset="0"/>
              <a:buChar char="•"/>
            </a:pPr>
            <a:endParaRPr lang="en-US" sz="1600" dirty="0">
              <a:solidFill>
                <a:schemeClr val="dk1"/>
              </a:solidFill>
              <a:latin typeface="Calibri"/>
              <a:ea typeface="Calibri"/>
              <a:cs typeface="Calibri"/>
              <a:sym typeface="Calibri"/>
            </a:endParaRPr>
          </a:p>
          <a:p>
            <a:pPr marL="285750" lvl="0" indent="-285750">
              <a:buClr>
                <a:schemeClr val="dk1"/>
              </a:buClr>
              <a:buSzPts val="1800"/>
              <a:buFont typeface="Arial" panose="020B0604020202020204" pitchFamily="34" charset="0"/>
              <a:buChar char="•"/>
            </a:pPr>
            <a:r>
              <a:rPr lang="en-US" sz="1600" b="1" dirty="0">
                <a:solidFill>
                  <a:schemeClr val="dk1"/>
                </a:solidFill>
                <a:latin typeface="Calibri"/>
                <a:ea typeface="Calibri"/>
                <a:cs typeface="Calibri"/>
                <a:sym typeface="Calibri"/>
              </a:rPr>
              <a:t>Convert to Structured Format:</a:t>
            </a:r>
            <a:r>
              <a:rPr lang="en-US" sz="1600" dirty="0">
                <a:solidFill>
                  <a:schemeClr val="dk1"/>
                </a:solidFill>
                <a:latin typeface="Calibri"/>
                <a:ea typeface="Calibri"/>
                <a:cs typeface="Calibri"/>
                <a:sym typeface="Calibri"/>
              </a:rPr>
              <a:t> These cleaning steps converted raw scraped data into clean numerical values suitable for analysis.</a:t>
            </a:r>
          </a:p>
          <a:p>
            <a:pPr marL="285750" lvl="0" indent="-285750">
              <a:buClr>
                <a:schemeClr val="dk1"/>
              </a:buClr>
              <a:buSzPts val="1800"/>
              <a:buFont typeface="Arial" panose="020B0604020202020204" pitchFamily="34" charset="0"/>
              <a:buChar char="•"/>
            </a:pPr>
            <a:endParaRPr lang="en-US" sz="1600" dirty="0">
              <a:solidFill>
                <a:schemeClr val="dk1"/>
              </a:solidFill>
              <a:latin typeface="Calibri"/>
              <a:ea typeface="Calibri"/>
              <a:cs typeface="Calibri"/>
              <a:sym typeface="Calibri"/>
            </a:endParaRPr>
          </a:p>
          <a:p>
            <a:pPr marL="285750" lvl="0" indent="-285750">
              <a:buClr>
                <a:schemeClr val="dk1"/>
              </a:buClr>
              <a:buSzPts val="1800"/>
              <a:buFont typeface="Arial" panose="020B0604020202020204" pitchFamily="34" charset="0"/>
              <a:buChar char="•"/>
            </a:pPr>
            <a:r>
              <a:rPr lang="en-US" sz="1600" b="1" dirty="0">
                <a:solidFill>
                  <a:schemeClr val="dk1"/>
                </a:solidFill>
                <a:latin typeface="Calibri"/>
                <a:ea typeface="Calibri"/>
                <a:cs typeface="Calibri"/>
                <a:sym typeface="Calibri"/>
              </a:rPr>
              <a:t>Verify Cleaned Data:</a:t>
            </a:r>
            <a:r>
              <a:rPr lang="en-US" sz="1600" dirty="0">
                <a:solidFill>
                  <a:schemeClr val="dk1"/>
                </a:solidFill>
                <a:latin typeface="Calibri"/>
                <a:ea typeface="Calibri"/>
                <a:cs typeface="Calibri"/>
                <a:sym typeface="Calibri"/>
              </a:rPr>
              <a:t> The cleaned dataset was checked using </a:t>
            </a:r>
            <a:r>
              <a:rPr lang="en-US" sz="1600" dirty="0" err="1">
                <a:solidFill>
                  <a:schemeClr val="dk1"/>
                </a:solidFill>
                <a:latin typeface="Calibri"/>
                <a:ea typeface="Calibri"/>
                <a:cs typeface="Calibri"/>
                <a:sym typeface="Calibri"/>
              </a:rPr>
              <a:t>data.head</a:t>
            </a:r>
            <a:r>
              <a:rPr lang="en-US" sz="1600" dirty="0">
                <a:solidFill>
                  <a:schemeClr val="dk1"/>
                </a:solidFill>
                <a:latin typeface="Calibri"/>
                <a:ea typeface="Calibri"/>
                <a:cs typeface="Calibri"/>
                <a:sym typeface="Calibri"/>
              </a:rPr>
              <a:t>() to confirm the transformations.</a:t>
            </a:r>
            <a:endParaRPr sz="1600" dirty="0">
              <a:solidFill>
                <a:schemeClr val="dk1"/>
              </a:solidFill>
              <a:latin typeface="Calibri"/>
              <a:ea typeface="Calibri"/>
              <a:cs typeface="Calibri"/>
              <a:sym typeface="Calibri"/>
            </a:endParaRPr>
          </a:p>
        </p:txBody>
      </p:sp>
      <p:sp>
        <p:nvSpPr>
          <p:cNvPr id="105" name="Google Shape;105;p3">
            <a:extLst>
              <a:ext uri="{FF2B5EF4-FFF2-40B4-BE49-F238E27FC236}">
                <a16:creationId xmlns:a16="http://schemas.microsoft.com/office/drawing/2014/main" id="{16A084DA-6A40-4375-D4D4-4C9ACBA4AA05}"/>
              </a:ext>
            </a:extLst>
          </p:cNvPr>
          <p:cNvSpPr txBox="1"/>
          <p:nvPr/>
        </p:nvSpPr>
        <p:spPr>
          <a:xfrm>
            <a:off x="427656" y="416554"/>
            <a:ext cx="11300153" cy="486247"/>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Lato Black"/>
                <a:ea typeface="Lato Black"/>
                <a:cs typeface="Lato Black"/>
                <a:sym typeface="Lato Black"/>
              </a:rPr>
              <a:t>CLEANED UNWANTED DATA USING REGEX</a:t>
            </a:r>
            <a:endParaRPr sz="1800" b="0" i="0" u="none" strike="noStrike" cap="none" dirty="0">
              <a:solidFill>
                <a:srgbClr val="FF0000"/>
              </a:solidFill>
              <a:latin typeface="Calibri"/>
              <a:ea typeface="Calibri"/>
              <a:cs typeface="Calibri"/>
              <a:sym typeface="Calibri"/>
            </a:endParaRPr>
          </a:p>
        </p:txBody>
      </p:sp>
      <p:pic>
        <p:nvPicPr>
          <p:cNvPr id="3" name="Picture 2" descr="The image shows a pandas DataFrame with columns for Name, Variant, Driven_Kms, Engine_Type, Transmission, Location, Status, Price(In_Lakhs), EMI_per_Month, Year, Brand, and Model, containing information about various car models and their specifications.&#10;&#10;AI-generated content may be incorrect.">
            <a:extLst>
              <a:ext uri="{FF2B5EF4-FFF2-40B4-BE49-F238E27FC236}">
                <a16:creationId xmlns:a16="http://schemas.microsoft.com/office/drawing/2014/main" id="{82908656-2546-9353-5CF7-0071E58A56EC}"/>
              </a:ext>
            </a:extLst>
          </p:cNvPr>
          <p:cNvPicPr>
            <a:picLocks noChangeAspect="1"/>
          </p:cNvPicPr>
          <p:nvPr/>
        </p:nvPicPr>
        <p:blipFill>
          <a:blip r:embed="rId3"/>
          <a:stretch>
            <a:fillRect/>
          </a:stretch>
        </p:blipFill>
        <p:spPr>
          <a:xfrm>
            <a:off x="5126180" y="1131392"/>
            <a:ext cx="6946574" cy="4766068"/>
          </a:xfrm>
          <a:prstGeom prst="rect">
            <a:avLst/>
          </a:prstGeom>
        </p:spPr>
      </p:pic>
    </p:spTree>
    <p:extLst>
      <p:ext uri="{BB962C8B-B14F-4D97-AF65-F5344CB8AC3E}">
        <p14:creationId xmlns:p14="http://schemas.microsoft.com/office/powerpoint/2010/main" val="3865515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502B8D04-D48C-9C3B-F437-E8E9813692BD}"/>
            </a:ext>
          </a:extLst>
        </p:cNvPr>
        <p:cNvGrpSpPr/>
        <p:nvPr/>
      </p:nvGrpSpPr>
      <p:grpSpPr>
        <a:xfrm>
          <a:off x="0" y="0"/>
          <a:ext cx="0" cy="0"/>
          <a:chOff x="0" y="0"/>
          <a:chExt cx="0" cy="0"/>
        </a:xfrm>
      </p:grpSpPr>
      <p:sp>
        <p:nvSpPr>
          <p:cNvPr id="104" name="Google Shape;104;p3">
            <a:extLst>
              <a:ext uri="{FF2B5EF4-FFF2-40B4-BE49-F238E27FC236}">
                <a16:creationId xmlns:a16="http://schemas.microsoft.com/office/drawing/2014/main" id="{3C963541-E77B-15FD-4EF8-FB4A27F82D05}"/>
              </a:ext>
            </a:extLst>
          </p:cNvPr>
          <p:cNvSpPr txBox="1"/>
          <p:nvPr/>
        </p:nvSpPr>
        <p:spPr>
          <a:xfrm>
            <a:off x="248663" y="4272717"/>
            <a:ext cx="11694673" cy="2308284"/>
          </a:xfrm>
          <a:prstGeom prst="rect">
            <a:avLst/>
          </a:prstGeom>
          <a:noFill/>
          <a:ln>
            <a:noFill/>
          </a:ln>
        </p:spPr>
        <p:txBody>
          <a:bodyPr spcFirstLastPara="1" wrap="square" lIns="91425" tIns="45700" rIns="91425" bIns="45700" anchor="t" anchorCtr="0">
            <a:spAutoFit/>
          </a:bodyPr>
          <a:lstStyle/>
          <a:p>
            <a:pPr lvl="0">
              <a:buClr>
                <a:schemeClr val="dk1"/>
              </a:buClr>
              <a:buSzPts val="1800"/>
            </a:pPr>
            <a:r>
              <a:rPr lang="en-US" sz="1800" b="1" dirty="0">
                <a:solidFill>
                  <a:schemeClr val="dk1"/>
                </a:solidFill>
                <a:latin typeface="Calibri"/>
                <a:ea typeface="Calibri"/>
                <a:cs typeface="Calibri"/>
                <a:sym typeface="Calibri"/>
              </a:rPr>
              <a:t> Price Distribution Analysis (Density Plot)  </a:t>
            </a:r>
          </a:p>
          <a:p>
            <a:pPr marL="285750" lvl="0" indent="-285750">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A density plot was used to visualize the distribution of used car prices across India.</a:t>
            </a:r>
          </a:p>
          <a:p>
            <a:pPr marL="285750" lvl="0" indent="-285750">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The plot shows how car prices are spread across different price ranges.</a:t>
            </a:r>
          </a:p>
          <a:p>
            <a:pPr marL="285750" lvl="0" indent="-285750">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The red dotted line represents the mean price (₹5.40 lakhs).</a:t>
            </a:r>
          </a:p>
          <a:p>
            <a:pPr marL="285750" lvl="0" indent="-285750">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The green dotted line represents the median price (₹4.31 lakhs).</a:t>
            </a:r>
          </a:p>
          <a:p>
            <a:pPr marL="285750" lvl="0" indent="-285750">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Most used cars are concentrated in the lower price range between ₹2–₹8 lakhs.</a:t>
            </a:r>
          </a:p>
          <a:p>
            <a:pPr marL="285750" lvl="0" indent="-285750">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The distribution is right-skewed, indicating a small number of high-priced cars.</a:t>
            </a:r>
          </a:p>
          <a:p>
            <a:pPr marL="285750" lvl="0" indent="-285750">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This analysis helps understand the typical pricing trend in the Indian used car market.</a:t>
            </a:r>
            <a:endParaRPr sz="1800" dirty="0">
              <a:solidFill>
                <a:schemeClr val="dk1"/>
              </a:solidFill>
              <a:latin typeface="Calibri"/>
              <a:ea typeface="Calibri"/>
              <a:cs typeface="Calibri"/>
              <a:sym typeface="Calibri"/>
            </a:endParaRPr>
          </a:p>
        </p:txBody>
      </p:sp>
      <p:sp>
        <p:nvSpPr>
          <p:cNvPr id="105" name="Google Shape;105;p3">
            <a:extLst>
              <a:ext uri="{FF2B5EF4-FFF2-40B4-BE49-F238E27FC236}">
                <a16:creationId xmlns:a16="http://schemas.microsoft.com/office/drawing/2014/main" id="{CE8898CA-D415-A802-3789-9C46AC21EC39}"/>
              </a:ext>
            </a:extLst>
          </p:cNvPr>
          <p:cNvSpPr txBox="1"/>
          <p:nvPr/>
        </p:nvSpPr>
        <p:spPr>
          <a:xfrm>
            <a:off x="358995" y="276999"/>
            <a:ext cx="6099463" cy="486247"/>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dirty="0">
                <a:solidFill>
                  <a:srgbClr val="FF0000"/>
                </a:solidFill>
                <a:latin typeface="Lato Black"/>
                <a:ea typeface="Lato Black"/>
                <a:cs typeface="Lato Black"/>
                <a:sym typeface="Lato Black"/>
              </a:rPr>
              <a:t>UNIVARIATE ANALYSIS</a:t>
            </a:r>
            <a:endParaRPr sz="1800" b="0" i="0" u="none" strike="noStrike" cap="none" dirty="0">
              <a:solidFill>
                <a:srgbClr val="FF0000"/>
              </a:solidFill>
              <a:latin typeface="Calibri"/>
              <a:ea typeface="Calibri"/>
              <a:cs typeface="Calibri"/>
              <a:sym typeface="Calibri"/>
            </a:endParaRPr>
          </a:p>
        </p:txBody>
      </p:sp>
      <p:pic>
        <p:nvPicPr>
          <p:cNvPr id="3" name="Picture 2" descr="The image is a density plot illustrating the distribution of prices in lakhs across various regions of India, with the mean price being 5.40 and the median at 4.31.&#10;&#10;AI-generated content may be incorrect.">
            <a:extLst>
              <a:ext uri="{FF2B5EF4-FFF2-40B4-BE49-F238E27FC236}">
                <a16:creationId xmlns:a16="http://schemas.microsoft.com/office/drawing/2014/main" id="{16054BE9-742C-EE4C-6562-691BAFB2ED72}"/>
              </a:ext>
            </a:extLst>
          </p:cNvPr>
          <p:cNvPicPr>
            <a:picLocks noChangeAspect="1"/>
          </p:cNvPicPr>
          <p:nvPr/>
        </p:nvPicPr>
        <p:blipFill>
          <a:blip r:embed="rId3"/>
          <a:stretch>
            <a:fillRect/>
          </a:stretch>
        </p:blipFill>
        <p:spPr>
          <a:xfrm>
            <a:off x="795223" y="877865"/>
            <a:ext cx="10404080" cy="3414835"/>
          </a:xfrm>
          <a:prstGeom prst="rect">
            <a:avLst/>
          </a:prstGeom>
        </p:spPr>
      </p:pic>
    </p:spTree>
    <p:extLst>
      <p:ext uri="{BB962C8B-B14F-4D97-AF65-F5344CB8AC3E}">
        <p14:creationId xmlns:p14="http://schemas.microsoft.com/office/powerpoint/2010/main" val="1012204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B1155A86-BC6C-4DBB-56E0-A00CD68A40F7}"/>
            </a:ext>
          </a:extLst>
        </p:cNvPr>
        <p:cNvGrpSpPr/>
        <p:nvPr/>
      </p:nvGrpSpPr>
      <p:grpSpPr>
        <a:xfrm>
          <a:off x="0" y="0"/>
          <a:ext cx="0" cy="0"/>
          <a:chOff x="0" y="0"/>
          <a:chExt cx="0" cy="0"/>
        </a:xfrm>
      </p:grpSpPr>
      <p:sp>
        <p:nvSpPr>
          <p:cNvPr id="104" name="Google Shape;104;p3">
            <a:extLst>
              <a:ext uri="{FF2B5EF4-FFF2-40B4-BE49-F238E27FC236}">
                <a16:creationId xmlns:a16="http://schemas.microsoft.com/office/drawing/2014/main" id="{C88643E6-1475-F6D7-917E-0E2A84AFB346}"/>
              </a:ext>
            </a:extLst>
          </p:cNvPr>
          <p:cNvSpPr txBox="1"/>
          <p:nvPr/>
        </p:nvSpPr>
        <p:spPr>
          <a:xfrm>
            <a:off x="285043" y="872151"/>
            <a:ext cx="5058744" cy="5909270"/>
          </a:xfrm>
          <a:prstGeom prst="rect">
            <a:avLst/>
          </a:prstGeom>
          <a:noFill/>
          <a:ln>
            <a:noFill/>
          </a:ln>
        </p:spPr>
        <p:txBody>
          <a:bodyPr spcFirstLastPara="1" wrap="square" lIns="91425" tIns="45700" rIns="91425" bIns="45700" anchor="t" anchorCtr="0">
            <a:spAutoFit/>
          </a:bodyPr>
          <a:lstStyle/>
          <a:p>
            <a:pPr lvl="0">
              <a:buClr>
                <a:schemeClr val="dk1"/>
              </a:buClr>
              <a:buSzPts val="1800"/>
            </a:pPr>
            <a:r>
              <a:rPr lang="en-US" sz="1800" b="1" dirty="0">
                <a:solidFill>
                  <a:schemeClr val="dk1"/>
                </a:solidFill>
                <a:latin typeface="Calibri"/>
                <a:ea typeface="Calibri"/>
                <a:cs typeface="Calibri"/>
                <a:sym typeface="Calibri"/>
              </a:rPr>
              <a:t>Top 10 Brands Dominating Used Car Listings</a:t>
            </a:r>
          </a:p>
          <a:p>
            <a:pPr lvl="0">
              <a:buClr>
                <a:schemeClr val="dk1"/>
              </a:buClr>
              <a:buSzPts val="1800"/>
            </a:pPr>
            <a:endParaRPr lang="en-US" sz="1800" b="1" dirty="0">
              <a:solidFill>
                <a:schemeClr val="dk1"/>
              </a:solidFill>
              <a:latin typeface="Calibri"/>
              <a:ea typeface="Calibri"/>
              <a:cs typeface="Calibri"/>
              <a:sym typeface="Calibri"/>
            </a:endParaRPr>
          </a:p>
          <a:p>
            <a:pPr marL="285750" lvl="0" indent="-285750">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A bar chart was used to identify the top 10 car brands with the highest listings in the dataset.</a:t>
            </a:r>
          </a:p>
          <a:p>
            <a:pPr lvl="0">
              <a:buClr>
                <a:schemeClr val="dk1"/>
              </a:buClr>
              <a:buSzPts val="1800"/>
            </a:pPr>
            <a:endParaRPr lang="en-US" sz="1800" dirty="0">
              <a:solidFill>
                <a:schemeClr val="dk1"/>
              </a:solidFill>
              <a:latin typeface="Calibri"/>
              <a:ea typeface="Calibri"/>
              <a:cs typeface="Calibri"/>
              <a:sym typeface="Calibri"/>
            </a:endParaRPr>
          </a:p>
          <a:p>
            <a:pPr marL="285750" lvl="0" indent="-285750">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Maruti has the highest number of used car listings, dominating the market.</a:t>
            </a:r>
          </a:p>
          <a:p>
            <a:pPr lvl="0">
              <a:buClr>
                <a:schemeClr val="dk1"/>
              </a:buClr>
              <a:buSzPts val="1800"/>
            </a:pPr>
            <a:endParaRPr lang="en-US" sz="1800" dirty="0">
              <a:solidFill>
                <a:schemeClr val="dk1"/>
              </a:solidFill>
              <a:latin typeface="Calibri"/>
              <a:ea typeface="Calibri"/>
              <a:cs typeface="Calibri"/>
              <a:sym typeface="Calibri"/>
            </a:endParaRPr>
          </a:p>
          <a:p>
            <a:pPr marL="285750" lvl="0" indent="-285750">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Hyundai is the second most listed brand, followed by Tata and Honda.</a:t>
            </a:r>
          </a:p>
          <a:p>
            <a:pPr lvl="0">
              <a:buClr>
                <a:schemeClr val="dk1"/>
              </a:buClr>
              <a:buSzPts val="1800"/>
            </a:pPr>
            <a:endParaRPr lang="en-US" sz="1800" dirty="0">
              <a:solidFill>
                <a:schemeClr val="dk1"/>
              </a:solidFill>
              <a:latin typeface="Calibri"/>
              <a:ea typeface="Calibri"/>
              <a:cs typeface="Calibri"/>
              <a:sym typeface="Calibri"/>
            </a:endParaRPr>
          </a:p>
          <a:p>
            <a:pPr marL="285750" lvl="0" indent="-285750">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Other frequently listed brands include Mahindra, KIA, Renault, Ford, Toyota, and Volkswagen.</a:t>
            </a:r>
          </a:p>
          <a:p>
            <a:pPr lvl="0">
              <a:buClr>
                <a:schemeClr val="dk1"/>
              </a:buClr>
              <a:buSzPts val="1800"/>
            </a:pPr>
            <a:endParaRPr lang="en-US" sz="1800" dirty="0">
              <a:solidFill>
                <a:schemeClr val="dk1"/>
              </a:solidFill>
              <a:latin typeface="Calibri"/>
              <a:ea typeface="Calibri"/>
              <a:cs typeface="Calibri"/>
              <a:sym typeface="Calibri"/>
            </a:endParaRPr>
          </a:p>
          <a:p>
            <a:pPr marL="285750" lvl="0" indent="-285750">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The results show that Maruti and Hyundai dominate the Indian used car market.</a:t>
            </a:r>
          </a:p>
          <a:p>
            <a:pPr lvl="0">
              <a:buClr>
                <a:schemeClr val="dk1"/>
              </a:buClr>
              <a:buSzPts val="1800"/>
            </a:pPr>
            <a:endParaRPr lang="en-US" sz="1800" dirty="0">
              <a:solidFill>
                <a:schemeClr val="dk1"/>
              </a:solidFill>
              <a:latin typeface="Calibri"/>
              <a:ea typeface="Calibri"/>
              <a:cs typeface="Calibri"/>
              <a:sym typeface="Calibri"/>
            </a:endParaRPr>
          </a:p>
          <a:p>
            <a:pPr marL="285750" lvl="0" indent="-285750">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This analysis helps understand brand popularity and market share in used car listings.</a:t>
            </a:r>
          </a:p>
          <a:p>
            <a:pPr marR="0" lvl="0" algn="l" rtl="0">
              <a:spcBef>
                <a:spcPts val="0"/>
              </a:spcBef>
              <a:spcAft>
                <a:spcPts val="0"/>
              </a:spcAft>
              <a:buClr>
                <a:schemeClr val="dk1"/>
              </a:buClr>
              <a:buSzPts val="1800"/>
            </a:pPr>
            <a:endParaRPr sz="1800" b="1" dirty="0">
              <a:solidFill>
                <a:schemeClr val="dk1"/>
              </a:solidFill>
              <a:latin typeface="Calibri"/>
              <a:ea typeface="Calibri"/>
              <a:cs typeface="Calibri"/>
              <a:sym typeface="Calibri"/>
            </a:endParaRPr>
          </a:p>
        </p:txBody>
      </p:sp>
      <p:sp>
        <p:nvSpPr>
          <p:cNvPr id="105" name="Google Shape;105;p3">
            <a:extLst>
              <a:ext uri="{FF2B5EF4-FFF2-40B4-BE49-F238E27FC236}">
                <a16:creationId xmlns:a16="http://schemas.microsoft.com/office/drawing/2014/main" id="{FFFAD353-A183-7529-0BEB-08C755663336}"/>
              </a:ext>
            </a:extLst>
          </p:cNvPr>
          <p:cNvSpPr txBox="1"/>
          <p:nvPr/>
        </p:nvSpPr>
        <p:spPr>
          <a:xfrm>
            <a:off x="285043" y="223607"/>
            <a:ext cx="6099463" cy="49590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Lato Black"/>
                <a:ea typeface="Lato Black"/>
                <a:cs typeface="Lato Black"/>
                <a:sym typeface="Lato Black"/>
              </a:rPr>
              <a:t>UNIVARIATE ANALYSIS</a:t>
            </a:r>
            <a:endParaRPr sz="1800" b="0" i="0" u="none" strike="noStrike" cap="none" dirty="0">
              <a:solidFill>
                <a:srgbClr val="FF0000"/>
              </a:solidFill>
              <a:latin typeface="Calibri"/>
              <a:ea typeface="Calibri"/>
              <a:cs typeface="Calibri"/>
              <a:sym typeface="Calibri"/>
            </a:endParaRPr>
          </a:p>
        </p:txBody>
      </p:sp>
      <p:pic>
        <p:nvPicPr>
          <p:cNvPr id="3" name="Picture 2" descr="The image shows a bar chart displaying the top 10 car brands based on listings, with Maruti, Hyundai, Mahindra, KIA, Renault, Ford, Toyota, and Volkswagen being the most dominant.&#10;&#10;AI-generated content may be incorrect.">
            <a:extLst>
              <a:ext uri="{FF2B5EF4-FFF2-40B4-BE49-F238E27FC236}">
                <a16:creationId xmlns:a16="http://schemas.microsoft.com/office/drawing/2014/main" id="{AC33C543-8DC5-CAA7-2462-3AF149513676}"/>
              </a:ext>
            </a:extLst>
          </p:cNvPr>
          <p:cNvPicPr>
            <a:picLocks noChangeAspect="1"/>
          </p:cNvPicPr>
          <p:nvPr/>
        </p:nvPicPr>
        <p:blipFill>
          <a:blip r:embed="rId3"/>
          <a:srcRect l="4613" r="5839"/>
          <a:stretch>
            <a:fillRect/>
          </a:stretch>
        </p:blipFill>
        <p:spPr>
          <a:xfrm>
            <a:off x="5603846" y="1123821"/>
            <a:ext cx="6588154" cy="4533579"/>
          </a:xfrm>
          <a:prstGeom prst="rect">
            <a:avLst/>
          </a:prstGeom>
        </p:spPr>
      </p:pic>
    </p:spTree>
    <p:extLst>
      <p:ext uri="{BB962C8B-B14F-4D97-AF65-F5344CB8AC3E}">
        <p14:creationId xmlns:p14="http://schemas.microsoft.com/office/powerpoint/2010/main" val="642460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E1DEABD1-F02D-45AD-D6E6-BCA1F41E1B63}"/>
            </a:ext>
          </a:extLst>
        </p:cNvPr>
        <p:cNvGrpSpPr/>
        <p:nvPr/>
      </p:nvGrpSpPr>
      <p:grpSpPr>
        <a:xfrm>
          <a:off x="0" y="0"/>
          <a:ext cx="0" cy="0"/>
          <a:chOff x="0" y="0"/>
          <a:chExt cx="0" cy="0"/>
        </a:xfrm>
      </p:grpSpPr>
      <p:sp>
        <p:nvSpPr>
          <p:cNvPr id="104" name="Google Shape;104;p3">
            <a:extLst>
              <a:ext uri="{FF2B5EF4-FFF2-40B4-BE49-F238E27FC236}">
                <a16:creationId xmlns:a16="http://schemas.microsoft.com/office/drawing/2014/main" id="{F350375E-73E5-9FD1-9BAD-4DCF1EEA45B6}"/>
              </a:ext>
            </a:extLst>
          </p:cNvPr>
          <p:cNvSpPr txBox="1"/>
          <p:nvPr/>
        </p:nvSpPr>
        <p:spPr>
          <a:xfrm>
            <a:off x="162187" y="1097835"/>
            <a:ext cx="4522085" cy="5078273"/>
          </a:xfrm>
          <a:prstGeom prst="rect">
            <a:avLst/>
          </a:prstGeom>
          <a:noFill/>
          <a:ln>
            <a:noFill/>
          </a:ln>
        </p:spPr>
        <p:txBody>
          <a:bodyPr spcFirstLastPara="1" wrap="square" lIns="91425" tIns="45700" rIns="91425" bIns="45700" anchor="t" anchorCtr="0">
            <a:spAutoFit/>
          </a:bodyPr>
          <a:lstStyle/>
          <a:p>
            <a:pPr lvl="0">
              <a:buClr>
                <a:schemeClr val="dk1"/>
              </a:buClr>
              <a:buSzPts val="1800"/>
            </a:pPr>
            <a:r>
              <a:rPr lang="en-US" sz="1800" b="1" dirty="0">
                <a:solidFill>
                  <a:schemeClr val="dk1"/>
                </a:solidFill>
                <a:latin typeface="Calibri"/>
                <a:ea typeface="Calibri"/>
                <a:cs typeface="Calibri"/>
                <a:sym typeface="Calibri"/>
              </a:rPr>
              <a:t>Distribution of Car Manufacturing Year (Car Age Analysis)</a:t>
            </a:r>
          </a:p>
          <a:p>
            <a:pPr lvl="0">
              <a:buClr>
                <a:schemeClr val="dk1"/>
              </a:buClr>
              <a:buSzPts val="1800"/>
            </a:pPr>
            <a:endParaRPr lang="en-US" sz="1800" b="1" dirty="0">
              <a:solidFill>
                <a:schemeClr val="dk1"/>
              </a:solidFill>
              <a:latin typeface="Calibri"/>
              <a:ea typeface="Calibri"/>
              <a:cs typeface="Calibri"/>
              <a:sym typeface="Calibri"/>
            </a:endParaRPr>
          </a:p>
          <a:p>
            <a:pPr marL="285750" lvl="0" indent="-285750">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A count plot was used to analyze the distribution of car manufacturing years in the dataset.</a:t>
            </a:r>
          </a:p>
          <a:p>
            <a:pPr marL="285750" lvl="0" indent="-285750">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Most used car listings fall between 2015 and 2021 model years.</a:t>
            </a:r>
          </a:p>
          <a:p>
            <a:pPr marL="285750" lvl="0" indent="-285750">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The highest number of listings are around 2016–2018 models.</a:t>
            </a:r>
          </a:p>
          <a:p>
            <a:pPr marL="285750" lvl="0" indent="-285750">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Very few older cars (before 2010) appear in the dataset.</a:t>
            </a:r>
          </a:p>
          <a:p>
            <a:pPr marL="285750" lvl="0" indent="-285750">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Newer cars after 2023 have fewer listings, as they are recently purchased.</a:t>
            </a:r>
          </a:p>
          <a:p>
            <a:pPr marL="285750" lvl="0" indent="-285750">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This analysis helps understand the typical age range of cars sold in the used car market.</a:t>
            </a:r>
          </a:p>
          <a:p>
            <a:pPr marR="0" lvl="0" algn="l" rtl="0">
              <a:spcBef>
                <a:spcPts val="0"/>
              </a:spcBef>
              <a:spcAft>
                <a:spcPts val="0"/>
              </a:spcAft>
              <a:buClr>
                <a:schemeClr val="dk1"/>
              </a:buClr>
              <a:buSzPts val="1800"/>
            </a:pPr>
            <a:endParaRPr sz="1800" b="1" dirty="0">
              <a:solidFill>
                <a:schemeClr val="dk1"/>
              </a:solidFill>
              <a:latin typeface="Calibri"/>
              <a:ea typeface="Calibri"/>
              <a:cs typeface="Calibri"/>
              <a:sym typeface="Calibri"/>
            </a:endParaRPr>
          </a:p>
        </p:txBody>
      </p:sp>
      <p:sp>
        <p:nvSpPr>
          <p:cNvPr id="105" name="Google Shape;105;p3">
            <a:extLst>
              <a:ext uri="{FF2B5EF4-FFF2-40B4-BE49-F238E27FC236}">
                <a16:creationId xmlns:a16="http://schemas.microsoft.com/office/drawing/2014/main" id="{9EF7FF4E-13CA-416D-9BAA-537C84F84807}"/>
              </a:ext>
            </a:extLst>
          </p:cNvPr>
          <p:cNvSpPr txBox="1"/>
          <p:nvPr/>
        </p:nvSpPr>
        <p:spPr>
          <a:xfrm>
            <a:off x="293432" y="248774"/>
            <a:ext cx="6099463" cy="49590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Lato Black"/>
                <a:ea typeface="Lato Black"/>
                <a:cs typeface="Lato Black"/>
                <a:sym typeface="Lato Black"/>
              </a:rPr>
              <a:t>UNIVARIATE ANALYSIS</a:t>
            </a:r>
            <a:endParaRPr sz="1800" b="0" i="0" u="none" strike="noStrike" cap="none" dirty="0">
              <a:solidFill>
                <a:srgbClr val="FF0000"/>
              </a:solidFill>
              <a:latin typeface="Calibri"/>
              <a:ea typeface="Calibri"/>
              <a:cs typeface="Calibri"/>
              <a:sym typeface="Calibri"/>
            </a:endParaRPr>
          </a:p>
        </p:txBody>
      </p:sp>
      <p:pic>
        <p:nvPicPr>
          <p:cNvPr id="3" name="Picture 2" descr="The image depicts a bar chart illustrating the distribution of car ages from 2006 to 2025.&#10;&#10;AI-generated content may be incorrect.">
            <a:extLst>
              <a:ext uri="{FF2B5EF4-FFF2-40B4-BE49-F238E27FC236}">
                <a16:creationId xmlns:a16="http://schemas.microsoft.com/office/drawing/2014/main" id="{C3845730-D1E4-ADCC-6D5F-342939BE7CC9}"/>
              </a:ext>
            </a:extLst>
          </p:cNvPr>
          <p:cNvPicPr>
            <a:picLocks noChangeAspect="1"/>
          </p:cNvPicPr>
          <p:nvPr/>
        </p:nvPicPr>
        <p:blipFill>
          <a:blip r:embed="rId3"/>
          <a:stretch>
            <a:fillRect/>
          </a:stretch>
        </p:blipFill>
        <p:spPr>
          <a:xfrm>
            <a:off x="4756557" y="744679"/>
            <a:ext cx="7365535" cy="4498440"/>
          </a:xfrm>
          <a:prstGeom prst="rect">
            <a:avLst/>
          </a:prstGeom>
        </p:spPr>
      </p:pic>
    </p:spTree>
    <p:extLst>
      <p:ext uri="{BB962C8B-B14F-4D97-AF65-F5344CB8AC3E}">
        <p14:creationId xmlns:p14="http://schemas.microsoft.com/office/powerpoint/2010/main" val="1008191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325D35A3-EF3B-EDB6-160B-2758A6EFEC1B}"/>
            </a:ext>
          </a:extLst>
        </p:cNvPr>
        <p:cNvGrpSpPr/>
        <p:nvPr/>
      </p:nvGrpSpPr>
      <p:grpSpPr>
        <a:xfrm>
          <a:off x="0" y="0"/>
          <a:ext cx="0" cy="0"/>
          <a:chOff x="0" y="0"/>
          <a:chExt cx="0" cy="0"/>
        </a:xfrm>
      </p:grpSpPr>
      <p:sp>
        <p:nvSpPr>
          <p:cNvPr id="104" name="Google Shape;104;p3">
            <a:extLst>
              <a:ext uri="{FF2B5EF4-FFF2-40B4-BE49-F238E27FC236}">
                <a16:creationId xmlns:a16="http://schemas.microsoft.com/office/drawing/2014/main" id="{E1BA8EDD-8FE1-2CC4-D235-97276385A696}"/>
              </a:ext>
            </a:extLst>
          </p:cNvPr>
          <p:cNvSpPr txBox="1"/>
          <p:nvPr/>
        </p:nvSpPr>
        <p:spPr>
          <a:xfrm>
            <a:off x="335377" y="1359016"/>
            <a:ext cx="5411082" cy="4801274"/>
          </a:xfrm>
          <a:prstGeom prst="rect">
            <a:avLst/>
          </a:prstGeom>
          <a:noFill/>
          <a:ln>
            <a:noFill/>
          </a:ln>
        </p:spPr>
        <p:txBody>
          <a:bodyPr spcFirstLastPara="1" wrap="square" lIns="91425" tIns="45700" rIns="91425" bIns="45700" anchor="t" anchorCtr="0">
            <a:spAutoFit/>
          </a:bodyPr>
          <a:lstStyle/>
          <a:p>
            <a:pPr lvl="0">
              <a:buClr>
                <a:schemeClr val="dk1"/>
              </a:buClr>
              <a:buSzPts val="1800"/>
            </a:pPr>
            <a:r>
              <a:rPr lang="en-US" sz="1800" b="1" dirty="0">
                <a:solidFill>
                  <a:schemeClr val="dk1"/>
                </a:solidFill>
                <a:latin typeface="Calibri"/>
                <a:ea typeface="Calibri"/>
                <a:cs typeface="Calibri"/>
                <a:sym typeface="Calibri"/>
              </a:rPr>
              <a:t>Manual vs Automatic Transmission Analysis</a:t>
            </a:r>
          </a:p>
          <a:p>
            <a:pPr lvl="0">
              <a:buClr>
                <a:schemeClr val="dk1"/>
              </a:buClr>
              <a:buSzPts val="1800"/>
            </a:pPr>
            <a:endParaRPr lang="en-US" sz="1800" b="1" dirty="0">
              <a:solidFill>
                <a:schemeClr val="dk1"/>
              </a:solidFill>
              <a:latin typeface="Calibri"/>
              <a:ea typeface="Calibri"/>
              <a:cs typeface="Calibri"/>
              <a:sym typeface="Calibri"/>
            </a:endParaRPr>
          </a:p>
          <a:p>
            <a:pPr marL="285750" lvl="0" indent="-285750">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A bar chart was used to compare the number of manual and automatic cars in the dataset.</a:t>
            </a:r>
          </a:p>
          <a:p>
            <a:pPr lvl="0">
              <a:buClr>
                <a:schemeClr val="dk1"/>
              </a:buClr>
              <a:buSzPts val="1800"/>
            </a:pPr>
            <a:endParaRPr lang="en-US" sz="1800" dirty="0">
              <a:solidFill>
                <a:schemeClr val="dk1"/>
              </a:solidFill>
              <a:latin typeface="Calibri"/>
              <a:ea typeface="Calibri"/>
              <a:cs typeface="Calibri"/>
              <a:sym typeface="Calibri"/>
            </a:endParaRPr>
          </a:p>
          <a:p>
            <a:pPr marL="285750" lvl="0" indent="-285750">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Manual transmission cars dominate the used car listings.</a:t>
            </a:r>
          </a:p>
          <a:p>
            <a:pPr lvl="0">
              <a:buClr>
                <a:schemeClr val="dk1"/>
              </a:buClr>
              <a:buSzPts val="1800"/>
            </a:pPr>
            <a:endParaRPr lang="en-US" sz="1800" dirty="0">
              <a:solidFill>
                <a:schemeClr val="dk1"/>
              </a:solidFill>
              <a:latin typeface="Calibri"/>
              <a:ea typeface="Calibri"/>
              <a:cs typeface="Calibri"/>
              <a:sym typeface="Calibri"/>
            </a:endParaRPr>
          </a:p>
          <a:p>
            <a:pPr marL="285750" lvl="0" indent="-285750">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Automatic cars are significantly fewer compared to manual vehicles.</a:t>
            </a:r>
          </a:p>
          <a:p>
            <a:pPr lvl="0">
              <a:buClr>
                <a:schemeClr val="dk1"/>
              </a:buClr>
              <a:buSzPts val="1800"/>
            </a:pPr>
            <a:endParaRPr lang="en-US" sz="1800" dirty="0">
              <a:solidFill>
                <a:schemeClr val="dk1"/>
              </a:solidFill>
              <a:latin typeface="Calibri"/>
              <a:ea typeface="Calibri"/>
              <a:cs typeface="Calibri"/>
              <a:sym typeface="Calibri"/>
            </a:endParaRPr>
          </a:p>
          <a:p>
            <a:pPr marL="285750" lvl="0" indent="-285750">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This indicates that manual cars are more common in the Indian used car market.</a:t>
            </a:r>
          </a:p>
          <a:p>
            <a:pPr lvl="0">
              <a:buClr>
                <a:schemeClr val="dk1"/>
              </a:buClr>
              <a:buSzPts val="1800"/>
            </a:pPr>
            <a:endParaRPr lang="en-US" sz="1800" dirty="0">
              <a:solidFill>
                <a:schemeClr val="dk1"/>
              </a:solidFill>
              <a:latin typeface="Calibri"/>
              <a:ea typeface="Calibri"/>
              <a:cs typeface="Calibri"/>
              <a:sym typeface="Calibri"/>
            </a:endParaRPr>
          </a:p>
          <a:p>
            <a:pPr marL="285750" lvl="0" indent="-285750">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The result reflects consumer preference and higher availability of manual cars.</a:t>
            </a:r>
          </a:p>
          <a:p>
            <a:pPr marR="0" lvl="0" algn="l" rtl="0">
              <a:spcBef>
                <a:spcPts val="0"/>
              </a:spcBef>
              <a:spcAft>
                <a:spcPts val="0"/>
              </a:spcAft>
              <a:buClr>
                <a:schemeClr val="dk1"/>
              </a:buClr>
              <a:buSzPts val="1800"/>
            </a:pPr>
            <a:endParaRPr sz="1800" b="1" dirty="0">
              <a:solidFill>
                <a:schemeClr val="dk1"/>
              </a:solidFill>
              <a:latin typeface="Calibri"/>
              <a:ea typeface="Calibri"/>
              <a:cs typeface="Calibri"/>
              <a:sym typeface="Calibri"/>
            </a:endParaRPr>
          </a:p>
        </p:txBody>
      </p:sp>
      <p:sp>
        <p:nvSpPr>
          <p:cNvPr id="105" name="Google Shape;105;p3">
            <a:extLst>
              <a:ext uri="{FF2B5EF4-FFF2-40B4-BE49-F238E27FC236}">
                <a16:creationId xmlns:a16="http://schemas.microsoft.com/office/drawing/2014/main" id="{22A8A346-B2F7-406D-CDD1-03DCE786746F}"/>
              </a:ext>
            </a:extLst>
          </p:cNvPr>
          <p:cNvSpPr txBox="1"/>
          <p:nvPr/>
        </p:nvSpPr>
        <p:spPr>
          <a:xfrm>
            <a:off x="335377" y="290719"/>
            <a:ext cx="6099463" cy="49590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Lato Black"/>
                <a:ea typeface="Lato Black"/>
                <a:cs typeface="Lato Black"/>
                <a:sym typeface="Lato Black"/>
              </a:rPr>
              <a:t>UNIVARIATE ANALYSIS</a:t>
            </a:r>
            <a:endParaRPr sz="1800" b="0" i="0" u="none" strike="noStrike" cap="none" dirty="0">
              <a:solidFill>
                <a:srgbClr val="FF0000"/>
              </a:solidFill>
              <a:latin typeface="Calibri"/>
              <a:ea typeface="Calibri"/>
              <a:cs typeface="Calibri"/>
              <a:sym typeface="Calibri"/>
            </a:endParaRPr>
          </a:p>
        </p:txBody>
      </p:sp>
      <p:pic>
        <p:nvPicPr>
          <p:cNvPr id="3" name="Picture 2" descr="The diagram compares the number of vehicles (in thousands) categorized by whether they are manual or automatic, and their transmission type, with manual having a higher count across all intervals.&#10;&#10;AI-generated content may be incorrect.">
            <a:extLst>
              <a:ext uri="{FF2B5EF4-FFF2-40B4-BE49-F238E27FC236}">
                <a16:creationId xmlns:a16="http://schemas.microsoft.com/office/drawing/2014/main" id="{69EAAA64-0A62-EE06-A7FF-40C9DD43B7EB}"/>
              </a:ext>
            </a:extLst>
          </p:cNvPr>
          <p:cNvPicPr>
            <a:picLocks noChangeAspect="1"/>
          </p:cNvPicPr>
          <p:nvPr/>
        </p:nvPicPr>
        <p:blipFill>
          <a:blip r:embed="rId3"/>
          <a:stretch>
            <a:fillRect/>
          </a:stretch>
        </p:blipFill>
        <p:spPr>
          <a:xfrm>
            <a:off x="5889071" y="1063861"/>
            <a:ext cx="6236908" cy="4730277"/>
          </a:xfrm>
          <a:prstGeom prst="rect">
            <a:avLst/>
          </a:prstGeom>
        </p:spPr>
      </p:pic>
    </p:spTree>
    <p:extLst>
      <p:ext uri="{BB962C8B-B14F-4D97-AF65-F5344CB8AC3E}">
        <p14:creationId xmlns:p14="http://schemas.microsoft.com/office/powerpoint/2010/main" val="3563967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35035632-6510-8B35-A424-F298D6ABE1DB}"/>
            </a:ext>
          </a:extLst>
        </p:cNvPr>
        <p:cNvGrpSpPr/>
        <p:nvPr/>
      </p:nvGrpSpPr>
      <p:grpSpPr>
        <a:xfrm>
          <a:off x="0" y="0"/>
          <a:ext cx="0" cy="0"/>
          <a:chOff x="0" y="0"/>
          <a:chExt cx="0" cy="0"/>
        </a:xfrm>
      </p:grpSpPr>
      <p:sp>
        <p:nvSpPr>
          <p:cNvPr id="104" name="Google Shape;104;p3">
            <a:extLst>
              <a:ext uri="{FF2B5EF4-FFF2-40B4-BE49-F238E27FC236}">
                <a16:creationId xmlns:a16="http://schemas.microsoft.com/office/drawing/2014/main" id="{EB068E40-07BA-AFA6-96DB-85E989B1D6E2}"/>
              </a:ext>
            </a:extLst>
          </p:cNvPr>
          <p:cNvSpPr txBox="1"/>
          <p:nvPr/>
        </p:nvSpPr>
        <p:spPr>
          <a:xfrm>
            <a:off x="321577" y="763398"/>
            <a:ext cx="11560213" cy="2585283"/>
          </a:xfrm>
          <a:prstGeom prst="rect">
            <a:avLst/>
          </a:prstGeom>
          <a:noFill/>
          <a:ln>
            <a:noFill/>
          </a:ln>
        </p:spPr>
        <p:txBody>
          <a:bodyPr spcFirstLastPara="1" wrap="square" lIns="91425" tIns="45700" rIns="91425" bIns="45700" anchor="t" anchorCtr="0">
            <a:spAutoFit/>
          </a:bodyPr>
          <a:lstStyle/>
          <a:p>
            <a:pPr lvl="0">
              <a:buClr>
                <a:schemeClr val="dk1"/>
              </a:buClr>
              <a:buSzPts val="1800"/>
            </a:pPr>
            <a:r>
              <a:rPr lang="en-US" sz="1800" b="1" dirty="0">
                <a:solidFill>
                  <a:schemeClr val="dk1"/>
                </a:solidFill>
                <a:latin typeface="Calibri"/>
                <a:ea typeface="Calibri"/>
                <a:cs typeface="Calibri"/>
                <a:sym typeface="Calibri"/>
              </a:rPr>
              <a:t>Average Price by Car Brand</a:t>
            </a:r>
          </a:p>
          <a:p>
            <a:pPr lvl="0">
              <a:buClr>
                <a:schemeClr val="dk1"/>
              </a:buClr>
              <a:buSzPts val="1800"/>
            </a:pPr>
            <a:endParaRPr lang="en-US" sz="1800" b="1" dirty="0">
              <a:solidFill>
                <a:schemeClr val="dk1"/>
              </a:solidFill>
              <a:latin typeface="Calibri"/>
              <a:ea typeface="Calibri"/>
              <a:cs typeface="Calibri"/>
              <a:sym typeface="Calibri"/>
            </a:endParaRPr>
          </a:p>
          <a:p>
            <a:pPr marL="285750" lvl="0" indent="-285750">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A bar chart was used to analyze the average price of cars for each brand in the dataset.</a:t>
            </a:r>
          </a:p>
          <a:p>
            <a:pPr marL="285750" lvl="0" indent="-285750">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Luxury brands such as Porsche, BMW, and Audi have significantly higher average prices.</a:t>
            </a:r>
          </a:p>
          <a:p>
            <a:pPr marL="285750" lvl="0" indent="-285750">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Land Rover and Volvo also show relatively high average price ranges.</a:t>
            </a:r>
          </a:p>
          <a:p>
            <a:pPr marL="285750" lvl="0" indent="-285750">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Popular brands like Maruti, Hyundai, and Tata have lower average prices compared to luxury brands.</a:t>
            </a:r>
          </a:p>
          <a:p>
            <a:pPr marL="285750" lvl="0" indent="-285750">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The chart highlights the price differences between premium and budget car brands.</a:t>
            </a:r>
          </a:p>
          <a:p>
            <a:pPr marL="285750" lvl="0" indent="-285750">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This analysis helps understand how brand value influences the resale price of cars.</a:t>
            </a:r>
          </a:p>
          <a:p>
            <a:pPr marR="0" lvl="0" algn="l" rtl="0">
              <a:spcBef>
                <a:spcPts val="0"/>
              </a:spcBef>
              <a:spcAft>
                <a:spcPts val="0"/>
              </a:spcAft>
              <a:buClr>
                <a:schemeClr val="dk1"/>
              </a:buClr>
              <a:buSzPts val="1800"/>
            </a:pPr>
            <a:endParaRPr sz="1800" b="1" dirty="0">
              <a:solidFill>
                <a:schemeClr val="dk1"/>
              </a:solidFill>
              <a:latin typeface="Calibri"/>
              <a:ea typeface="Calibri"/>
              <a:cs typeface="Calibri"/>
              <a:sym typeface="Calibri"/>
            </a:endParaRPr>
          </a:p>
        </p:txBody>
      </p:sp>
      <p:sp>
        <p:nvSpPr>
          <p:cNvPr id="105" name="Google Shape;105;p3">
            <a:extLst>
              <a:ext uri="{FF2B5EF4-FFF2-40B4-BE49-F238E27FC236}">
                <a16:creationId xmlns:a16="http://schemas.microsoft.com/office/drawing/2014/main" id="{2CDFF7D0-081C-F492-DDB1-2B366EFCC1B7}"/>
              </a:ext>
            </a:extLst>
          </p:cNvPr>
          <p:cNvSpPr txBox="1"/>
          <p:nvPr/>
        </p:nvSpPr>
        <p:spPr>
          <a:xfrm>
            <a:off x="310210" y="267493"/>
            <a:ext cx="6099463" cy="49590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Lato Black"/>
                <a:ea typeface="Lato Black"/>
                <a:cs typeface="Lato Black"/>
                <a:sym typeface="Lato Black"/>
              </a:rPr>
              <a:t>BI-VARIATE ANALYSIS</a:t>
            </a:r>
            <a:endParaRPr sz="1800" b="0" i="0" u="none" strike="noStrike" cap="none" dirty="0">
              <a:solidFill>
                <a:srgbClr val="FF0000"/>
              </a:solidFill>
              <a:latin typeface="Calibri"/>
              <a:ea typeface="Calibri"/>
              <a:cs typeface="Calibri"/>
              <a:sym typeface="Calibri"/>
            </a:endParaRPr>
          </a:p>
        </p:txBody>
      </p:sp>
      <p:pic>
        <p:nvPicPr>
          <p:cNvPr id="3" name="Picture 2" descr="The image displays a bar chart depicting the average price (in lakhs) of various car brands.&#10;&#10;AI-generated content may be incorrect.">
            <a:extLst>
              <a:ext uri="{FF2B5EF4-FFF2-40B4-BE49-F238E27FC236}">
                <a16:creationId xmlns:a16="http://schemas.microsoft.com/office/drawing/2014/main" id="{F882C628-2B9D-BA72-E847-155397FABDDC}"/>
              </a:ext>
            </a:extLst>
          </p:cNvPr>
          <p:cNvPicPr>
            <a:picLocks noChangeAspect="1"/>
          </p:cNvPicPr>
          <p:nvPr/>
        </p:nvPicPr>
        <p:blipFill>
          <a:blip r:embed="rId3"/>
          <a:stretch>
            <a:fillRect/>
          </a:stretch>
        </p:blipFill>
        <p:spPr>
          <a:xfrm>
            <a:off x="83891" y="2961314"/>
            <a:ext cx="11965680" cy="3808602"/>
          </a:xfrm>
          <a:prstGeom prst="rect">
            <a:avLst/>
          </a:prstGeom>
        </p:spPr>
      </p:pic>
    </p:spTree>
    <p:extLst>
      <p:ext uri="{BB962C8B-B14F-4D97-AF65-F5344CB8AC3E}">
        <p14:creationId xmlns:p14="http://schemas.microsoft.com/office/powerpoint/2010/main" val="3325371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BA1A1AFA-E127-8158-4B6C-387AB42E68FE}"/>
            </a:ext>
          </a:extLst>
        </p:cNvPr>
        <p:cNvGrpSpPr/>
        <p:nvPr/>
      </p:nvGrpSpPr>
      <p:grpSpPr>
        <a:xfrm>
          <a:off x="0" y="0"/>
          <a:ext cx="0" cy="0"/>
          <a:chOff x="0" y="0"/>
          <a:chExt cx="0" cy="0"/>
        </a:xfrm>
      </p:grpSpPr>
      <p:sp>
        <p:nvSpPr>
          <p:cNvPr id="104" name="Google Shape;104;p3">
            <a:extLst>
              <a:ext uri="{FF2B5EF4-FFF2-40B4-BE49-F238E27FC236}">
                <a16:creationId xmlns:a16="http://schemas.microsoft.com/office/drawing/2014/main" id="{3DB832B3-576E-4FE7-C657-D176F3A5D16C}"/>
              </a:ext>
            </a:extLst>
          </p:cNvPr>
          <p:cNvSpPr txBox="1"/>
          <p:nvPr/>
        </p:nvSpPr>
        <p:spPr>
          <a:xfrm>
            <a:off x="6096000" y="711123"/>
            <a:ext cx="5944103" cy="5632271"/>
          </a:xfrm>
          <a:prstGeom prst="rect">
            <a:avLst/>
          </a:prstGeom>
          <a:noFill/>
          <a:ln>
            <a:noFill/>
          </a:ln>
        </p:spPr>
        <p:txBody>
          <a:bodyPr spcFirstLastPara="1" wrap="square" lIns="91425" tIns="45700" rIns="91425" bIns="45700" anchor="t" anchorCtr="0">
            <a:spAutoFit/>
          </a:bodyPr>
          <a:lstStyle/>
          <a:p>
            <a:pPr lvl="0">
              <a:buClr>
                <a:schemeClr val="dk1"/>
              </a:buClr>
              <a:buSzPts val="1800"/>
            </a:pPr>
            <a:r>
              <a:rPr lang="en-US" sz="1800" b="1" dirty="0">
                <a:solidFill>
                  <a:schemeClr val="dk1"/>
                </a:solidFill>
                <a:latin typeface="Calibri"/>
                <a:ea typeface="Calibri"/>
                <a:cs typeface="Calibri"/>
                <a:sym typeface="Calibri"/>
              </a:rPr>
              <a:t>Resale Price vs Driven Kilometers Analysis</a:t>
            </a:r>
          </a:p>
          <a:p>
            <a:pPr lvl="0">
              <a:buClr>
                <a:schemeClr val="dk1"/>
              </a:buClr>
              <a:buSzPts val="1800"/>
            </a:pPr>
            <a:endParaRPr lang="en-US" sz="1800" b="1" dirty="0">
              <a:solidFill>
                <a:schemeClr val="dk1"/>
              </a:solidFill>
              <a:latin typeface="Calibri"/>
              <a:ea typeface="Calibri"/>
              <a:cs typeface="Calibri"/>
              <a:sym typeface="Calibri"/>
            </a:endParaRPr>
          </a:p>
          <a:p>
            <a:pPr marL="285750" lvl="0" indent="-285750">
              <a:buClr>
                <a:schemeClr val="dk1"/>
              </a:buClr>
              <a:buSzPts val="1800"/>
              <a:buFont typeface="Arial" panose="020B0604020202020204" pitchFamily="34" charset="0"/>
              <a:buChar char="•"/>
            </a:pPr>
            <a:r>
              <a:rPr lang="en-US" sz="1800" b="1" dirty="0">
                <a:solidFill>
                  <a:schemeClr val="dk1"/>
                </a:solidFill>
                <a:latin typeface="Calibri"/>
                <a:ea typeface="Calibri"/>
                <a:cs typeface="Calibri"/>
                <a:sym typeface="Calibri"/>
              </a:rPr>
              <a:t> </a:t>
            </a:r>
            <a:r>
              <a:rPr lang="en-US" sz="1800" dirty="0">
                <a:solidFill>
                  <a:schemeClr val="dk1"/>
                </a:solidFill>
                <a:latin typeface="Calibri"/>
                <a:ea typeface="Calibri"/>
                <a:cs typeface="Calibri"/>
                <a:sym typeface="Calibri"/>
              </a:rPr>
              <a:t>A scatter plot was used to analyze the relationship between resale price and driven kilometers (mileage).</a:t>
            </a:r>
          </a:p>
          <a:p>
            <a:pPr lvl="0">
              <a:buClr>
                <a:schemeClr val="dk1"/>
              </a:buClr>
              <a:buSzPts val="1800"/>
            </a:pPr>
            <a:endParaRPr lang="en-US" sz="1800" dirty="0">
              <a:solidFill>
                <a:schemeClr val="dk1"/>
              </a:solidFill>
              <a:latin typeface="Calibri"/>
              <a:ea typeface="Calibri"/>
              <a:cs typeface="Calibri"/>
              <a:sym typeface="Calibri"/>
            </a:endParaRPr>
          </a:p>
          <a:p>
            <a:pPr marL="285750" lvl="0" indent="-285750">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Each point represents a car listing with its price and kilometers driven.</a:t>
            </a:r>
          </a:p>
          <a:p>
            <a:pPr lvl="0">
              <a:buClr>
                <a:schemeClr val="dk1"/>
              </a:buClr>
              <a:buSzPts val="1800"/>
            </a:pPr>
            <a:endParaRPr lang="en-US" sz="1800" dirty="0">
              <a:solidFill>
                <a:schemeClr val="dk1"/>
              </a:solidFill>
              <a:latin typeface="Calibri"/>
              <a:ea typeface="Calibri"/>
              <a:cs typeface="Calibri"/>
              <a:sym typeface="Calibri"/>
            </a:endParaRPr>
          </a:p>
          <a:p>
            <a:pPr marL="285750" lvl="0" indent="-285750">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Cars with lower kilometers driven generally have higher resale prices.</a:t>
            </a:r>
          </a:p>
          <a:p>
            <a:pPr lvl="0">
              <a:buClr>
                <a:schemeClr val="dk1"/>
              </a:buClr>
              <a:buSzPts val="1800"/>
            </a:pPr>
            <a:endParaRPr lang="en-US" sz="1800" dirty="0">
              <a:solidFill>
                <a:schemeClr val="dk1"/>
              </a:solidFill>
              <a:latin typeface="Calibri"/>
              <a:ea typeface="Calibri"/>
              <a:cs typeface="Calibri"/>
              <a:sym typeface="Calibri"/>
            </a:endParaRPr>
          </a:p>
          <a:p>
            <a:pPr marL="285750" lvl="0" indent="-285750">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As driven kilometers increase, the resale price tends to decrease.</a:t>
            </a:r>
          </a:p>
          <a:p>
            <a:pPr lvl="0">
              <a:buClr>
                <a:schemeClr val="dk1"/>
              </a:buClr>
              <a:buSzPts val="1800"/>
            </a:pPr>
            <a:endParaRPr lang="en-US" sz="1800" dirty="0">
              <a:solidFill>
                <a:schemeClr val="dk1"/>
              </a:solidFill>
              <a:latin typeface="Calibri"/>
              <a:ea typeface="Calibri"/>
              <a:cs typeface="Calibri"/>
              <a:sym typeface="Calibri"/>
            </a:endParaRPr>
          </a:p>
          <a:p>
            <a:pPr marL="285750" lvl="0" indent="-285750">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Some outliers exist with very high kilometers but lower prices.</a:t>
            </a:r>
          </a:p>
          <a:p>
            <a:pPr lvl="0">
              <a:buClr>
                <a:schemeClr val="dk1"/>
              </a:buClr>
              <a:buSzPts val="1800"/>
            </a:pPr>
            <a:endParaRPr lang="en-US" sz="1800" dirty="0">
              <a:solidFill>
                <a:schemeClr val="dk1"/>
              </a:solidFill>
              <a:latin typeface="Calibri"/>
              <a:ea typeface="Calibri"/>
              <a:cs typeface="Calibri"/>
              <a:sym typeface="Calibri"/>
            </a:endParaRPr>
          </a:p>
          <a:p>
            <a:pPr marL="285750" lvl="0" indent="-285750">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This analysis shows the impact of vehicle usage on resale value in the used car market.</a:t>
            </a:r>
          </a:p>
          <a:p>
            <a:pPr marR="0" lvl="0" algn="l" rtl="0">
              <a:spcBef>
                <a:spcPts val="0"/>
              </a:spcBef>
              <a:spcAft>
                <a:spcPts val="0"/>
              </a:spcAft>
              <a:buClr>
                <a:schemeClr val="dk1"/>
              </a:buClr>
              <a:buSzPts val="1800"/>
            </a:pPr>
            <a:endParaRPr sz="1800" b="1" dirty="0">
              <a:solidFill>
                <a:schemeClr val="dk1"/>
              </a:solidFill>
              <a:latin typeface="Calibri"/>
              <a:ea typeface="Calibri"/>
              <a:cs typeface="Calibri"/>
              <a:sym typeface="Calibri"/>
            </a:endParaRPr>
          </a:p>
        </p:txBody>
      </p:sp>
      <p:sp>
        <p:nvSpPr>
          <p:cNvPr id="105" name="Google Shape;105;p3">
            <a:extLst>
              <a:ext uri="{FF2B5EF4-FFF2-40B4-BE49-F238E27FC236}">
                <a16:creationId xmlns:a16="http://schemas.microsoft.com/office/drawing/2014/main" id="{ED602A6C-FC1F-8295-8852-B0FA546F455F}"/>
              </a:ext>
            </a:extLst>
          </p:cNvPr>
          <p:cNvSpPr txBox="1"/>
          <p:nvPr/>
        </p:nvSpPr>
        <p:spPr>
          <a:xfrm>
            <a:off x="402489" y="215218"/>
            <a:ext cx="6099463" cy="49590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Lato Black"/>
                <a:ea typeface="Lato Black"/>
                <a:cs typeface="Lato Black"/>
                <a:sym typeface="Lato Black"/>
              </a:rPr>
              <a:t>BI-VARIATE ANALYSIS</a:t>
            </a:r>
            <a:endParaRPr sz="1800" b="0" i="0" u="none" strike="noStrike" cap="none" dirty="0">
              <a:solidFill>
                <a:srgbClr val="FF0000"/>
              </a:solidFill>
              <a:latin typeface="Calibri"/>
              <a:ea typeface="Calibri"/>
              <a:cs typeface="Calibri"/>
              <a:sym typeface="Calibri"/>
            </a:endParaRPr>
          </a:p>
        </p:txBody>
      </p:sp>
      <p:pic>
        <p:nvPicPr>
          <p:cNvPr id="3" name="Picture 2" descr="The scatter plot illustrates the relationship between the resale price of a car (in lakhs) and the mileage (driven kilometers).&#10;&#10;AI-generated content may be incorrect.">
            <a:extLst>
              <a:ext uri="{FF2B5EF4-FFF2-40B4-BE49-F238E27FC236}">
                <a16:creationId xmlns:a16="http://schemas.microsoft.com/office/drawing/2014/main" id="{9D2208D8-C730-2AFE-E4A6-40D68678778A}"/>
              </a:ext>
            </a:extLst>
          </p:cNvPr>
          <p:cNvPicPr>
            <a:picLocks noChangeAspect="1"/>
          </p:cNvPicPr>
          <p:nvPr/>
        </p:nvPicPr>
        <p:blipFill>
          <a:blip r:embed="rId3"/>
          <a:stretch>
            <a:fillRect/>
          </a:stretch>
        </p:blipFill>
        <p:spPr>
          <a:xfrm>
            <a:off x="0" y="1674471"/>
            <a:ext cx="5944103" cy="3869530"/>
          </a:xfrm>
          <a:prstGeom prst="rect">
            <a:avLst/>
          </a:prstGeom>
        </p:spPr>
      </p:pic>
    </p:spTree>
    <p:extLst>
      <p:ext uri="{BB962C8B-B14F-4D97-AF65-F5344CB8AC3E}">
        <p14:creationId xmlns:p14="http://schemas.microsoft.com/office/powerpoint/2010/main" val="310592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3607FB7-1209-B204-E999-9DA539381E75}"/>
            </a:ext>
          </a:extLst>
        </p:cNvPr>
        <p:cNvGrpSpPr/>
        <p:nvPr/>
      </p:nvGrpSpPr>
      <p:grpSpPr>
        <a:xfrm>
          <a:off x="0" y="0"/>
          <a:ext cx="0" cy="0"/>
          <a:chOff x="0" y="0"/>
          <a:chExt cx="0" cy="0"/>
        </a:xfrm>
      </p:grpSpPr>
      <p:sp>
        <p:nvSpPr>
          <p:cNvPr id="104" name="Google Shape;104;p3">
            <a:extLst>
              <a:ext uri="{FF2B5EF4-FFF2-40B4-BE49-F238E27FC236}">
                <a16:creationId xmlns:a16="http://schemas.microsoft.com/office/drawing/2014/main" id="{56AA4C2D-948F-C301-AA13-3D527CA898E8}"/>
              </a:ext>
            </a:extLst>
          </p:cNvPr>
          <p:cNvSpPr txBox="1"/>
          <p:nvPr/>
        </p:nvSpPr>
        <p:spPr>
          <a:xfrm>
            <a:off x="335377" y="1349505"/>
            <a:ext cx="4790296" cy="4908996"/>
          </a:xfrm>
          <a:prstGeom prst="rect">
            <a:avLst/>
          </a:prstGeom>
          <a:noFill/>
          <a:ln>
            <a:noFill/>
          </a:ln>
        </p:spPr>
        <p:txBody>
          <a:bodyPr spcFirstLastPara="1" wrap="square" lIns="91425" tIns="45700" rIns="91425" bIns="45700" anchor="t" anchorCtr="0">
            <a:spAutoFit/>
          </a:bodyPr>
          <a:lstStyle/>
          <a:p>
            <a:pPr lvl="0">
              <a:buClr>
                <a:schemeClr val="dk1"/>
              </a:buClr>
              <a:buSzPts val="1800"/>
            </a:pPr>
            <a:r>
              <a:rPr lang="en-US" sz="1800" b="1" dirty="0">
                <a:solidFill>
                  <a:schemeClr val="dk1"/>
                </a:solidFill>
                <a:latin typeface="Calibri"/>
                <a:ea typeface="Calibri"/>
                <a:cs typeface="Calibri"/>
                <a:sym typeface="Calibri"/>
              </a:rPr>
              <a:t>Driven Kilometers vs Car Manufacturing Year</a:t>
            </a:r>
          </a:p>
          <a:p>
            <a:pPr lvl="0">
              <a:buClr>
                <a:schemeClr val="dk1"/>
              </a:buClr>
              <a:buSzPts val="1800"/>
            </a:pPr>
            <a:endParaRPr lang="en-US" sz="1800" b="1" dirty="0">
              <a:solidFill>
                <a:schemeClr val="dk1"/>
              </a:solidFill>
              <a:latin typeface="Calibri"/>
              <a:ea typeface="Calibri"/>
              <a:cs typeface="Calibri"/>
              <a:sym typeface="Calibri"/>
            </a:endParaRPr>
          </a:p>
          <a:p>
            <a:pPr marL="285750" lvl="0" indent="-285750">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A scatter plot was used to analyze the relationship between car manufacturing year and kilometers driven.</a:t>
            </a:r>
          </a:p>
          <a:p>
            <a:pPr marL="285750" lvl="0" indent="-285750">
              <a:spcBef>
                <a:spcPts val="600"/>
              </a:spcBef>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Older cars generally show higher driven kilometers compared to newer cars.</a:t>
            </a:r>
          </a:p>
          <a:p>
            <a:pPr marL="285750" lvl="0" indent="-285750">
              <a:spcBef>
                <a:spcPts val="600"/>
              </a:spcBef>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Newer models tend to have lower mileage, indicating less usage.</a:t>
            </a:r>
          </a:p>
          <a:p>
            <a:pPr marL="285750" lvl="0" indent="-285750">
              <a:spcBef>
                <a:spcPts val="600"/>
              </a:spcBef>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Some outliers exist with extremely high kilometers driven.</a:t>
            </a:r>
          </a:p>
          <a:p>
            <a:pPr marL="285750" lvl="0" indent="-285750">
              <a:spcBef>
                <a:spcPts val="600"/>
              </a:spcBef>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Most cars fall within a moderate mileage range regardless of year.</a:t>
            </a:r>
          </a:p>
          <a:p>
            <a:pPr marL="285750" lvl="0" indent="-285750">
              <a:spcBef>
                <a:spcPts val="600"/>
              </a:spcBef>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This analysis helps understand how vehicle age influences total kilometers driven.</a:t>
            </a:r>
          </a:p>
          <a:p>
            <a:pPr marR="0" lvl="0" algn="l" rtl="0">
              <a:spcBef>
                <a:spcPts val="0"/>
              </a:spcBef>
              <a:spcAft>
                <a:spcPts val="0"/>
              </a:spcAft>
              <a:buClr>
                <a:schemeClr val="dk1"/>
              </a:buClr>
              <a:buSzPts val="1800"/>
            </a:pPr>
            <a:endParaRPr sz="1800" b="1" dirty="0">
              <a:solidFill>
                <a:schemeClr val="dk1"/>
              </a:solidFill>
              <a:latin typeface="Calibri"/>
              <a:ea typeface="Calibri"/>
              <a:cs typeface="Calibri"/>
              <a:sym typeface="Calibri"/>
            </a:endParaRPr>
          </a:p>
        </p:txBody>
      </p:sp>
      <p:sp>
        <p:nvSpPr>
          <p:cNvPr id="105" name="Google Shape;105;p3">
            <a:extLst>
              <a:ext uri="{FF2B5EF4-FFF2-40B4-BE49-F238E27FC236}">
                <a16:creationId xmlns:a16="http://schemas.microsoft.com/office/drawing/2014/main" id="{32D9D358-A0D5-1A2F-ABF6-E3C878CE7B16}"/>
              </a:ext>
            </a:extLst>
          </p:cNvPr>
          <p:cNvSpPr txBox="1"/>
          <p:nvPr/>
        </p:nvSpPr>
        <p:spPr>
          <a:xfrm>
            <a:off x="427656" y="416554"/>
            <a:ext cx="6099463" cy="49590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Lato Black"/>
                <a:ea typeface="Lato Black"/>
                <a:cs typeface="Lato Black"/>
                <a:sym typeface="Lato Black"/>
              </a:rPr>
              <a:t>BI-VARIATE ANALYSIS</a:t>
            </a:r>
            <a:endParaRPr sz="1800" b="0" i="0" u="none" strike="noStrike" cap="none" dirty="0">
              <a:solidFill>
                <a:srgbClr val="FF0000"/>
              </a:solidFill>
              <a:latin typeface="Calibri"/>
              <a:ea typeface="Calibri"/>
              <a:cs typeface="Calibri"/>
              <a:sym typeface="Calibri"/>
            </a:endParaRPr>
          </a:p>
        </p:txBody>
      </p:sp>
      <p:pic>
        <p:nvPicPr>
          <p:cNvPr id="3" name="Picture 2" descr="The diagram illustrates a trend showing the relationship between the number of driven kilometers and the year of car manufacture, indicating that cars tend to accumulate more mileage over time.&#10;&#10;AI-generated content may be incorrect.">
            <a:extLst>
              <a:ext uri="{FF2B5EF4-FFF2-40B4-BE49-F238E27FC236}">
                <a16:creationId xmlns:a16="http://schemas.microsoft.com/office/drawing/2014/main" id="{D8489F94-25A1-6790-5EB1-4027469E4888}"/>
              </a:ext>
            </a:extLst>
          </p:cNvPr>
          <p:cNvPicPr>
            <a:picLocks noChangeAspect="1"/>
          </p:cNvPicPr>
          <p:nvPr/>
        </p:nvPicPr>
        <p:blipFill>
          <a:blip r:embed="rId3"/>
          <a:stretch>
            <a:fillRect/>
          </a:stretch>
        </p:blipFill>
        <p:spPr>
          <a:xfrm>
            <a:off x="5209563" y="1125140"/>
            <a:ext cx="6982437" cy="3808114"/>
          </a:xfrm>
          <a:prstGeom prst="rect">
            <a:avLst/>
          </a:prstGeom>
        </p:spPr>
      </p:pic>
    </p:spTree>
    <p:extLst>
      <p:ext uri="{BB962C8B-B14F-4D97-AF65-F5344CB8AC3E}">
        <p14:creationId xmlns:p14="http://schemas.microsoft.com/office/powerpoint/2010/main" val="1146762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9C6A0B4B-405B-B9A7-609D-3DA29EE93FB7}"/>
            </a:ext>
          </a:extLst>
        </p:cNvPr>
        <p:cNvGrpSpPr/>
        <p:nvPr/>
      </p:nvGrpSpPr>
      <p:grpSpPr>
        <a:xfrm>
          <a:off x="0" y="0"/>
          <a:ext cx="0" cy="0"/>
          <a:chOff x="0" y="0"/>
          <a:chExt cx="0" cy="0"/>
        </a:xfrm>
      </p:grpSpPr>
      <p:sp>
        <p:nvSpPr>
          <p:cNvPr id="104" name="Google Shape;104;p3">
            <a:extLst>
              <a:ext uri="{FF2B5EF4-FFF2-40B4-BE49-F238E27FC236}">
                <a16:creationId xmlns:a16="http://schemas.microsoft.com/office/drawing/2014/main" id="{CEBBBECE-5405-9799-3A0D-6298958DA0E3}"/>
              </a:ext>
            </a:extLst>
          </p:cNvPr>
          <p:cNvSpPr txBox="1"/>
          <p:nvPr/>
        </p:nvSpPr>
        <p:spPr>
          <a:xfrm>
            <a:off x="217931" y="1258348"/>
            <a:ext cx="4432768" cy="5539938"/>
          </a:xfrm>
          <a:prstGeom prst="rect">
            <a:avLst/>
          </a:prstGeom>
          <a:noFill/>
          <a:ln>
            <a:noFill/>
          </a:ln>
        </p:spPr>
        <p:txBody>
          <a:bodyPr spcFirstLastPara="1" wrap="square" lIns="91425" tIns="45700" rIns="91425" bIns="45700" anchor="t" anchorCtr="0">
            <a:spAutoFit/>
          </a:bodyPr>
          <a:lstStyle/>
          <a:p>
            <a:pPr lvl="0">
              <a:buClr>
                <a:schemeClr val="dk1"/>
              </a:buClr>
              <a:buSzPts val="1800"/>
            </a:pPr>
            <a:r>
              <a:rPr lang="en-US" sz="1800" b="1" dirty="0">
                <a:solidFill>
                  <a:schemeClr val="dk1"/>
                </a:solidFill>
                <a:latin typeface="Calibri"/>
                <a:ea typeface="Calibri"/>
                <a:cs typeface="Calibri"/>
                <a:sym typeface="Calibri"/>
              </a:rPr>
              <a:t>Outlier Detection and Removal (Driven Kilometers)</a:t>
            </a:r>
          </a:p>
          <a:p>
            <a:pPr lvl="0">
              <a:buClr>
                <a:schemeClr val="dk1"/>
              </a:buClr>
              <a:buSzPts val="1800"/>
            </a:pPr>
            <a:endParaRPr lang="en-US" sz="1800" b="1" dirty="0">
              <a:solidFill>
                <a:schemeClr val="dk1"/>
              </a:solidFill>
              <a:latin typeface="Calibri"/>
              <a:ea typeface="Calibri"/>
              <a:cs typeface="Calibri"/>
              <a:sym typeface="Calibri"/>
            </a:endParaRPr>
          </a:p>
          <a:p>
            <a:pPr marL="285750" lvl="0" indent="-285750">
              <a:spcBef>
                <a:spcPts val="600"/>
              </a:spcBef>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The dataset was checked for outliers in the </a:t>
            </a:r>
            <a:r>
              <a:rPr lang="en-US" sz="1800" dirty="0" err="1">
                <a:solidFill>
                  <a:schemeClr val="dk1"/>
                </a:solidFill>
                <a:latin typeface="Calibri"/>
                <a:ea typeface="Calibri"/>
                <a:cs typeface="Calibri"/>
                <a:sym typeface="Calibri"/>
              </a:rPr>
              <a:t>Driven_Kms</a:t>
            </a:r>
            <a:r>
              <a:rPr lang="en-US" sz="1800" dirty="0">
                <a:solidFill>
                  <a:schemeClr val="dk1"/>
                </a:solidFill>
                <a:latin typeface="Calibri"/>
                <a:ea typeface="Calibri"/>
                <a:cs typeface="Calibri"/>
                <a:sym typeface="Calibri"/>
              </a:rPr>
              <a:t> column.</a:t>
            </a:r>
          </a:p>
          <a:p>
            <a:pPr marL="285750" lvl="0" indent="-285750">
              <a:spcBef>
                <a:spcPts val="600"/>
              </a:spcBef>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Some records showed extremely high values (above 1,000,000 km) which are unrealistic for cars.</a:t>
            </a:r>
          </a:p>
          <a:p>
            <a:pPr marL="285750" lvl="0" indent="-285750">
              <a:spcBef>
                <a:spcPts val="600"/>
              </a:spcBef>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These values were identified as data entry or scraping errors.</a:t>
            </a:r>
          </a:p>
          <a:p>
            <a:pPr marL="285750" lvl="0" indent="-285750">
              <a:spcBef>
                <a:spcPts val="600"/>
              </a:spcBef>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Outliers were removed by filtering cars with </a:t>
            </a:r>
            <a:r>
              <a:rPr lang="en-US" sz="1800" dirty="0" err="1">
                <a:solidFill>
                  <a:schemeClr val="dk1"/>
                </a:solidFill>
                <a:latin typeface="Calibri"/>
                <a:ea typeface="Calibri"/>
                <a:cs typeface="Calibri"/>
                <a:sym typeface="Calibri"/>
              </a:rPr>
              <a:t>Driven_Kms</a:t>
            </a:r>
            <a:r>
              <a:rPr lang="en-US" sz="1800" dirty="0">
                <a:solidFill>
                  <a:schemeClr val="dk1"/>
                </a:solidFill>
                <a:latin typeface="Calibri"/>
                <a:ea typeface="Calibri"/>
                <a:cs typeface="Calibri"/>
                <a:sym typeface="Calibri"/>
              </a:rPr>
              <a:t> less than 500,000 km.</a:t>
            </a:r>
          </a:p>
          <a:p>
            <a:pPr marL="285750" lvl="0" indent="-285750">
              <a:spcBef>
                <a:spcPts val="600"/>
              </a:spcBef>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After removing outliers, summary statistics (`describe()`) were used to analyze the cleaned data.</a:t>
            </a:r>
          </a:p>
          <a:p>
            <a:pPr marL="285750" lvl="0" indent="-285750">
              <a:spcBef>
                <a:spcPts val="600"/>
              </a:spcBef>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This step improved data accuracy and reliability for further analysis.</a:t>
            </a:r>
          </a:p>
          <a:p>
            <a:pPr marR="0" lvl="0" algn="l" rtl="0">
              <a:spcBef>
                <a:spcPts val="0"/>
              </a:spcBef>
              <a:spcAft>
                <a:spcPts val="0"/>
              </a:spcAft>
              <a:buClr>
                <a:schemeClr val="dk1"/>
              </a:buClr>
              <a:buSzPts val="1800"/>
            </a:pPr>
            <a:endParaRPr sz="1800" b="1" dirty="0">
              <a:solidFill>
                <a:schemeClr val="dk1"/>
              </a:solidFill>
              <a:latin typeface="Calibri"/>
              <a:ea typeface="Calibri"/>
              <a:cs typeface="Calibri"/>
              <a:sym typeface="Calibri"/>
            </a:endParaRPr>
          </a:p>
        </p:txBody>
      </p:sp>
      <p:sp>
        <p:nvSpPr>
          <p:cNvPr id="105" name="Google Shape;105;p3">
            <a:extLst>
              <a:ext uri="{FF2B5EF4-FFF2-40B4-BE49-F238E27FC236}">
                <a16:creationId xmlns:a16="http://schemas.microsoft.com/office/drawing/2014/main" id="{CF253CE3-23DB-B216-AE03-0CAE1146C33C}"/>
              </a:ext>
            </a:extLst>
          </p:cNvPr>
          <p:cNvSpPr txBox="1"/>
          <p:nvPr/>
        </p:nvSpPr>
        <p:spPr>
          <a:xfrm>
            <a:off x="427656" y="416554"/>
            <a:ext cx="10637423" cy="486247"/>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Lato Black"/>
                <a:ea typeface="Lato Black"/>
                <a:cs typeface="Lato Black"/>
                <a:sym typeface="Lato Black"/>
              </a:rPr>
              <a:t>BI-VARIATE ANALYSIS – DETECTING OUTLIERS</a:t>
            </a:r>
            <a:endParaRPr sz="1800" b="0" i="0" u="none" strike="noStrike" cap="none" dirty="0">
              <a:solidFill>
                <a:srgbClr val="FF0000"/>
              </a:solidFill>
              <a:latin typeface="Calibri"/>
              <a:ea typeface="Calibri"/>
              <a:cs typeface="Calibri"/>
              <a:sym typeface="Calibri"/>
            </a:endParaRPr>
          </a:p>
        </p:txBody>
      </p:sp>
      <p:pic>
        <p:nvPicPr>
          <p:cNvPr id="3" name="Picture 2" descr="The image shows a table with car data, including columns for brand, model, variant, year, engine type, transmission, driven kms, EMI per month, and price.&#10;&#10;AI-generated content may be incorrect.">
            <a:extLst>
              <a:ext uri="{FF2B5EF4-FFF2-40B4-BE49-F238E27FC236}">
                <a16:creationId xmlns:a16="http://schemas.microsoft.com/office/drawing/2014/main" id="{0C821D0E-5294-4E22-DE34-E35540B3894F}"/>
              </a:ext>
            </a:extLst>
          </p:cNvPr>
          <p:cNvPicPr>
            <a:picLocks noChangeAspect="1"/>
          </p:cNvPicPr>
          <p:nvPr/>
        </p:nvPicPr>
        <p:blipFill>
          <a:blip r:embed="rId3"/>
          <a:stretch>
            <a:fillRect/>
          </a:stretch>
        </p:blipFill>
        <p:spPr>
          <a:xfrm>
            <a:off x="4650699" y="1333849"/>
            <a:ext cx="7541301" cy="3884774"/>
          </a:xfrm>
          <a:prstGeom prst="rect">
            <a:avLst/>
          </a:prstGeom>
        </p:spPr>
      </p:pic>
    </p:spTree>
    <p:extLst>
      <p:ext uri="{BB962C8B-B14F-4D97-AF65-F5344CB8AC3E}">
        <p14:creationId xmlns:p14="http://schemas.microsoft.com/office/powerpoint/2010/main" val="891226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304D74E7-27B8-0CD4-4128-B2E6AD5D2AC2}"/>
            </a:ext>
          </a:extLst>
        </p:cNvPr>
        <p:cNvGrpSpPr/>
        <p:nvPr/>
      </p:nvGrpSpPr>
      <p:grpSpPr>
        <a:xfrm>
          <a:off x="0" y="0"/>
          <a:ext cx="0" cy="0"/>
          <a:chOff x="0" y="0"/>
          <a:chExt cx="0" cy="0"/>
        </a:xfrm>
      </p:grpSpPr>
      <p:sp>
        <p:nvSpPr>
          <p:cNvPr id="104" name="Google Shape;104;p3">
            <a:extLst>
              <a:ext uri="{FF2B5EF4-FFF2-40B4-BE49-F238E27FC236}">
                <a16:creationId xmlns:a16="http://schemas.microsoft.com/office/drawing/2014/main" id="{DE643965-7509-9CEB-DBB9-AC6BA094DF6A}"/>
              </a:ext>
            </a:extLst>
          </p:cNvPr>
          <p:cNvSpPr txBox="1"/>
          <p:nvPr/>
        </p:nvSpPr>
        <p:spPr>
          <a:xfrm>
            <a:off x="268448" y="1154609"/>
            <a:ext cx="4628866" cy="5462994"/>
          </a:xfrm>
          <a:prstGeom prst="rect">
            <a:avLst/>
          </a:prstGeom>
          <a:noFill/>
          <a:ln>
            <a:noFill/>
          </a:ln>
        </p:spPr>
        <p:txBody>
          <a:bodyPr spcFirstLastPara="1" wrap="square" lIns="91425" tIns="45700" rIns="91425" bIns="45700" anchor="t" anchorCtr="0">
            <a:spAutoFit/>
          </a:bodyPr>
          <a:lstStyle/>
          <a:p>
            <a:pPr lvl="0">
              <a:buClr>
                <a:schemeClr val="dk1"/>
              </a:buClr>
              <a:buSzPts val="1800"/>
            </a:pPr>
            <a:r>
              <a:rPr lang="en-US" sz="1800" b="1" dirty="0">
                <a:solidFill>
                  <a:schemeClr val="dk1"/>
                </a:solidFill>
                <a:latin typeface="Calibri"/>
                <a:ea typeface="Calibri"/>
                <a:cs typeface="Calibri"/>
                <a:sym typeface="Calibri"/>
              </a:rPr>
              <a:t>Driven Kilometers vs Car Year (After Removing Outliers)</a:t>
            </a:r>
          </a:p>
          <a:p>
            <a:pPr lvl="0">
              <a:buClr>
                <a:schemeClr val="dk1"/>
              </a:buClr>
              <a:buSzPts val="1800"/>
            </a:pPr>
            <a:endParaRPr lang="en-US" sz="1800" b="1" dirty="0">
              <a:solidFill>
                <a:schemeClr val="dk1"/>
              </a:solidFill>
              <a:latin typeface="Calibri"/>
              <a:ea typeface="Calibri"/>
              <a:cs typeface="Calibri"/>
              <a:sym typeface="Calibri"/>
            </a:endParaRPr>
          </a:p>
          <a:p>
            <a:pPr marL="285750" lvl="0" indent="-285750">
              <a:spcBef>
                <a:spcPts val="600"/>
              </a:spcBef>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A scatter plot was used to analyze the relationship between car manufacturing year and driven kilometers after removing outliers.</a:t>
            </a:r>
          </a:p>
          <a:p>
            <a:pPr marL="285750" lvl="0" indent="-285750">
              <a:spcBef>
                <a:spcPts val="600"/>
              </a:spcBef>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Unrealistic values were removed to ensure more accurate data representation.</a:t>
            </a:r>
          </a:p>
          <a:p>
            <a:pPr marL="285750" lvl="0" indent="-285750">
              <a:spcBef>
                <a:spcPts val="600"/>
              </a:spcBef>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Older cars generally show higher kilometers driven compared to newer models.</a:t>
            </a:r>
          </a:p>
          <a:p>
            <a:pPr marL="285750" lvl="0" indent="-285750">
              <a:spcBef>
                <a:spcPts val="600"/>
              </a:spcBef>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Newer cars tend to have lower mileage since they have been used for a shorter period.</a:t>
            </a:r>
          </a:p>
          <a:p>
            <a:pPr marL="285750" lvl="0" indent="-285750">
              <a:spcBef>
                <a:spcPts val="600"/>
              </a:spcBef>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The cleaned data provides a clearer and more reliable trend between car age and usage.</a:t>
            </a:r>
          </a:p>
          <a:p>
            <a:pPr marR="0" lvl="0" algn="l" rtl="0">
              <a:spcBef>
                <a:spcPts val="0"/>
              </a:spcBef>
              <a:spcAft>
                <a:spcPts val="0"/>
              </a:spcAft>
              <a:buClr>
                <a:schemeClr val="dk1"/>
              </a:buClr>
              <a:buSzPts val="1800"/>
            </a:pPr>
            <a:endParaRPr sz="1800" b="1" dirty="0">
              <a:solidFill>
                <a:schemeClr val="dk1"/>
              </a:solidFill>
              <a:latin typeface="Calibri"/>
              <a:ea typeface="Calibri"/>
              <a:cs typeface="Calibri"/>
              <a:sym typeface="Calibri"/>
            </a:endParaRPr>
          </a:p>
        </p:txBody>
      </p:sp>
      <p:sp>
        <p:nvSpPr>
          <p:cNvPr id="105" name="Google Shape;105;p3">
            <a:extLst>
              <a:ext uri="{FF2B5EF4-FFF2-40B4-BE49-F238E27FC236}">
                <a16:creationId xmlns:a16="http://schemas.microsoft.com/office/drawing/2014/main" id="{9FDB3050-D78A-D38F-66F2-8C92FA6A4E72}"/>
              </a:ext>
            </a:extLst>
          </p:cNvPr>
          <p:cNvSpPr txBox="1"/>
          <p:nvPr/>
        </p:nvSpPr>
        <p:spPr>
          <a:xfrm>
            <a:off x="427656" y="416554"/>
            <a:ext cx="11107206" cy="486247"/>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Lato Black"/>
                <a:ea typeface="Lato Black"/>
                <a:cs typeface="Lato Black"/>
                <a:sym typeface="Lato Black"/>
              </a:rPr>
              <a:t>BI-VARIATE ANALYSIS – AFTER REMOVING OUTLIERS</a:t>
            </a:r>
            <a:endParaRPr sz="1800" b="0" i="0" u="none" strike="noStrike" cap="none" dirty="0">
              <a:solidFill>
                <a:srgbClr val="FF0000"/>
              </a:solidFill>
              <a:latin typeface="Calibri"/>
              <a:ea typeface="Calibri"/>
              <a:cs typeface="Calibri"/>
              <a:sym typeface="Calibri"/>
            </a:endParaRPr>
          </a:p>
        </p:txBody>
      </p:sp>
      <p:pic>
        <p:nvPicPr>
          <p:cNvPr id="3" name="Picture 2" descr="The diagram illustrates the number of driven kilometers plotted against the year of manufacture for various car models, showing the correlation between a car's age and its accumulated mileage.&#10;&#10;AI-generated content may be incorrect.">
            <a:extLst>
              <a:ext uri="{FF2B5EF4-FFF2-40B4-BE49-F238E27FC236}">
                <a16:creationId xmlns:a16="http://schemas.microsoft.com/office/drawing/2014/main" id="{F60D420B-1F02-4A73-5938-27146E352FDF}"/>
              </a:ext>
            </a:extLst>
          </p:cNvPr>
          <p:cNvPicPr>
            <a:picLocks noChangeAspect="1"/>
          </p:cNvPicPr>
          <p:nvPr/>
        </p:nvPicPr>
        <p:blipFill>
          <a:blip r:embed="rId3"/>
          <a:srcRect r="2784"/>
          <a:stretch>
            <a:fillRect/>
          </a:stretch>
        </p:blipFill>
        <p:spPr>
          <a:xfrm>
            <a:off x="4771479" y="1331908"/>
            <a:ext cx="7420521" cy="4371483"/>
          </a:xfrm>
          <a:prstGeom prst="rect">
            <a:avLst/>
          </a:prstGeom>
        </p:spPr>
      </p:pic>
    </p:spTree>
    <p:extLst>
      <p:ext uri="{BB962C8B-B14F-4D97-AF65-F5344CB8AC3E}">
        <p14:creationId xmlns:p14="http://schemas.microsoft.com/office/powerpoint/2010/main" val="710140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A998340-B31B-DDAE-7A97-FAEFC50E898B}"/>
            </a:ext>
          </a:extLst>
        </p:cNvPr>
        <p:cNvGrpSpPr/>
        <p:nvPr/>
      </p:nvGrpSpPr>
      <p:grpSpPr>
        <a:xfrm>
          <a:off x="0" y="0"/>
          <a:ext cx="0" cy="0"/>
          <a:chOff x="0" y="0"/>
          <a:chExt cx="0" cy="0"/>
        </a:xfrm>
      </p:grpSpPr>
      <p:sp>
        <p:nvSpPr>
          <p:cNvPr id="104" name="Google Shape;104;p3">
            <a:extLst>
              <a:ext uri="{FF2B5EF4-FFF2-40B4-BE49-F238E27FC236}">
                <a16:creationId xmlns:a16="http://schemas.microsoft.com/office/drawing/2014/main" id="{F7C83485-DDFF-B987-592C-B4E55978928C}"/>
              </a:ext>
            </a:extLst>
          </p:cNvPr>
          <p:cNvSpPr txBox="1"/>
          <p:nvPr/>
        </p:nvSpPr>
        <p:spPr>
          <a:xfrm>
            <a:off x="201336" y="4832060"/>
            <a:ext cx="10931038" cy="2585283"/>
          </a:xfrm>
          <a:prstGeom prst="rect">
            <a:avLst/>
          </a:prstGeom>
          <a:noFill/>
          <a:ln>
            <a:noFill/>
          </a:ln>
        </p:spPr>
        <p:txBody>
          <a:bodyPr spcFirstLastPara="1" wrap="square" lIns="91425" tIns="45700" rIns="91425" bIns="45700" anchor="t" anchorCtr="0">
            <a:spAutoFit/>
          </a:bodyPr>
          <a:lstStyle/>
          <a:p>
            <a:pPr lvl="0">
              <a:buClr>
                <a:schemeClr val="dk1"/>
              </a:buClr>
              <a:buSzPts val="1800"/>
            </a:pPr>
            <a:r>
              <a:rPr lang="en-US" sz="1800" b="1" dirty="0">
                <a:solidFill>
                  <a:schemeClr val="dk1"/>
                </a:solidFill>
                <a:latin typeface="Calibri"/>
                <a:ea typeface="Calibri"/>
                <a:cs typeface="Calibri"/>
                <a:sym typeface="Calibri"/>
              </a:rPr>
              <a:t>Car Age Distribution by City</a:t>
            </a:r>
          </a:p>
          <a:p>
            <a:pPr lvl="0">
              <a:buClr>
                <a:schemeClr val="dk1"/>
              </a:buClr>
              <a:buSzPts val="1800"/>
            </a:pPr>
            <a:endParaRPr lang="en-US" sz="1800" b="1" dirty="0">
              <a:solidFill>
                <a:schemeClr val="dk1"/>
              </a:solidFill>
              <a:latin typeface="Calibri"/>
              <a:ea typeface="Calibri"/>
              <a:cs typeface="Calibri"/>
              <a:sym typeface="Calibri"/>
            </a:endParaRPr>
          </a:p>
          <a:p>
            <a:pPr marL="285750" lvl="0" indent="-285750">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The analysis compares cities such as Delhi, Bangalore, Hyderabad, Ahmedabad, Chennai, Gurgaon, Mumbai, and Pune.</a:t>
            </a:r>
          </a:p>
          <a:p>
            <a:pPr marL="285750" lvl="0" indent="-285750">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Most used cars fall within the 4–10 years age range across cities.</a:t>
            </a:r>
          </a:p>
          <a:p>
            <a:pPr marL="285750" lvl="0" indent="-285750">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Delhi shows the highest number of listings compared to other cities.</a:t>
            </a:r>
          </a:p>
          <a:p>
            <a:pPr marL="285750" lvl="0" indent="-285750">
              <a:buClr>
                <a:schemeClr val="dk1"/>
              </a:buClr>
              <a:buSzPts val="1800"/>
              <a:buFont typeface="Arial" panose="020B0604020202020204" pitchFamily="34" charset="0"/>
              <a:buChar char="•"/>
            </a:pPr>
            <a:r>
              <a:rPr lang="en-US" sz="1800" dirty="0">
                <a:solidFill>
                  <a:schemeClr val="dk1"/>
                </a:solidFill>
                <a:latin typeface="Calibri"/>
                <a:ea typeface="Calibri"/>
                <a:cs typeface="Calibri"/>
                <a:sym typeface="Calibri"/>
              </a:rPr>
              <a:t> The distribution pattern is similar across most cities, indicating consistent resale trends.</a:t>
            </a:r>
          </a:p>
          <a:p>
            <a:pPr marL="285750" lvl="0" indent="-285750">
              <a:buClr>
                <a:schemeClr val="dk1"/>
              </a:buClr>
              <a:buSzPts val="1800"/>
              <a:buFont typeface="Arial" panose="020B0604020202020204" pitchFamily="34" charset="0"/>
              <a:buChar char="•"/>
            </a:pPr>
            <a:endParaRPr lang="en-US" sz="1800" dirty="0">
              <a:solidFill>
                <a:schemeClr val="dk1"/>
              </a:solidFill>
              <a:latin typeface="Calibri"/>
              <a:ea typeface="Calibri"/>
              <a:cs typeface="Calibri"/>
              <a:sym typeface="Calibri"/>
            </a:endParaRPr>
          </a:p>
          <a:p>
            <a:pPr marR="0" lvl="0" algn="l" rtl="0">
              <a:spcBef>
                <a:spcPts val="0"/>
              </a:spcBef>
              <a:spcAft>
                <a:spcPts val="0"/>
              </a:spcAft>
              <a:buClr>
                <a:schemeClr val="dk1"/>
              </a:buClr>
              <a:buSzPts val="1800"/>
            </a:pPr>
            <a:endParaRPr sz="1800" b="1" dirty="0">
              <a:solidFill>
                <a:schemeClr val="dk1"/>
              </a:solidFill>
              <a:latin typeface="Calibri"/>
              <a:ea typeface="Calibri"/>
              <a:cs typeface="Calibri"/>
              <a:sym typeface="Calibri"/>
            </a:endParaRPr>
          </a:p>
        </p:txBody>
      </p:sp>
      <p:sp>
        <p:nvSpPr>
          <p:cNvPr id="105" name="Google Shape;105;p3">
            <a:extLst>
              <a:ext uri="{FF2B5EF4-FFF2-40B4-BE49-F238E27FC236}">
                <a16:creationId xmlns:a16="http://schemas.microsoft.com/office/drawing/2014/main" id="{5F22608E-32A6-E293-EF7E-894E80D3B7FE}"/>
              </a:ext>
            </a:extLst>
          </p:cNvPr>
          <p:cNvSpPr txBox="1"/>
          <p:nvPr/>
        </p:nvSpPr>
        <p:spPr>
          <a:xfrm>
            <a:off x="427656" y="416554"/>
            <a:ext cx="6099463" cy="49590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Lato Black"/>
                <a:ea typeface="Lato Black"/>
                <a:cs typeface="Lato Black"/>
                <a:sym typeface="Lato Black"/>
              </a:rPr>
              <a:t>BI-VARIATE ANALYSIS</a:t>
            </a:r>
            <a:endParaRPr sz="1800" b="0" i="0" u="none" strike="noStrike" cap="none" dirty="0">
              <a:solidFill>
                <a:srgbClr val="FF0000"/>
              </a:solidFill>
              <a:latin typeface="Calibri"/>
              <a:ea typeface="Calibri"/>
              <a:cs typeface="Calibri"/>
              <a:sym typeface="Calibri"/>
            </a:endParaRPr>
          </a:p>
        </p:txBody>
      </p:sp>
      <p:pic>
        <p:nvPicPr>
          <p:cNvPr id="3" name="Picture 2" descr="The diagram displays a bar chart representing car age distribution across various cities, with Delhi having the highest count of 600 and Pune having the lowest count of 200.&#10;&#10;AI-generated content may be incorrect.">
            <a:extLst>
              <a:ext uri="{FF2B5EF4-FFF2-40B4-BE49-F238E27FC236}">
                <a16:creationId xmlns:a16="http://schemas.microsoft.com/office/drawing/2014/main" id="{DB05A525-2BB2-389B-BA7E-AA39672019BF}"/>
              </a:ext>
            </a:extLst>
          </p:cNvPr>
          <p:cNvPicPr>
            <a:picLocks noChangeAspect="1"/>
          </p:cNvPicPr>
          <p:nvPr/>
        </p:nvPicPr>
        <p:blipFill>
          <a:blip r:embed="rId3"/>
          <a:srcRect t="2193"/>
          <a:stretch>
            <a:fillRect/>
          </a:stretch>
        </p:blipFill>
        <p:spPr>
          <a:xfrm>
            <a:off x="201336" y="912460"/>
            <a:ext cx="11476139" cy="3919600"/>
          </a:xfrm>
          <a:prstGeom prst="rect">
            <a:avLst/>
          </a:prstGeom>
        </p:spPr>
      </p:pic>
    </p:spTree>
    <p:extLst>
      <p:ext uri="{BB962C8B-B14F-4D97-AF65-F5344CB8AC3E}">
        <p14:creationId xmlns:p14="http://schemas.microsoft.com/office/powerpoint/2010/main" val="3884346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1386</TotalTime>
  <Words>2391</Words>
  <Application>Microsoft Office PowerPoint</Application>
  <PresentationFormat>Widescreen</PresentationFormat>
  <Paragraphs>197</Paragraphs>
  <Slides>20</Slides>
  <Notes>20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Candara</vt:lpstr>
      <vt:lpstr>Calibri</vt:lpstr>
      <vt:lpstr>Wingdings</vt:lpstr>
      <vt:lpstr>Aptos Narrow</vt:lpstr>
      <vt:lpstr>Lato Black</vt:lpstr>
      <vt:lpstr>Libre Baskerville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Bhargav Praveen Chintapalli</cp:lastModifiedBy>
  <cp:revision>5</cp:revision>
  <dcterms:created xsi:type="dcterms:W3CDTF">2021-02-16T05:19:01Z</dcterms:created>
  <dcterms:modified xsi:type="dcterms:W3CDTF">2026-07-01T10:10:50Z</dcterms:modified>
</cp:coreProperties>
</file>